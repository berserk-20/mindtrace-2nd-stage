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26"/>
  </p:notesMasterIdLst>
  <p:sldIdLst>
    <p:sldId id="256" r:id="rId2"/>
    <p:sldId id="257" r:id="rId3"/>
    <p:sldId id="258" r:id="rId4"/>
    <p:sldId id="259" r:id="rId5"/>
    <p:sldId id="278" r:id="rId6"/>
    <p:sldId id="262" r:id="rId7"/>
    <p:sldId id="279" r:id="rId8"/>
    <p:sldId id="263" r:id="rId9"/>
    <p:sldId id="264" r:id="rId10"/>
    <p:sldId id="265" r:id="rId11"/>
    <p:sldId id="266" r:id="rId12"/>
    <p:sldId id="267" r:id="rId13"/>
    <p:sldId id="280" r:id="rId14"/>
    <p:sldId id="281" r:id="rId15"/>
    <p:sldId id="268" r:id="rId16"/>
    <p:sldId id="269" r:id="rId17"/>
    <p:sldId id="270" r:id="rId18"/>
    <p:sldId id="271" r:id="rId19"/>
    <p:sldId id="272" r:id="rId20"/>
    <p:sldId id="273" r:id="rId21"/>
    <p:sldId id="274" r:id="rId22"/>
    <p:sldId id="275" r:id="rId23"/>
    <p:sldId id="276" r:id="rId24"/>
    <p:sldId id="277" r:id="rId25"/>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51" d="100"/>
          <a:sy n="151" d="100"/>
        </p:scale>
        <p:origin x="1637" y="8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64C3D37-072A-4042-8DCF-DFC98D3FE023}" type="datetimeFigureOut">
              <a:rPr lang="en-IN" smtClean="0"/>
              <a:t>25-06-2026</a:t>
            </a:fld>
            <a:endParaRPr lang="en-IN"/>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96CCADAB-EAC7-4B1E-88B8-EB9D131D6BB2}" type="slidenum">
              <a:rPr lang="en-IN" smtClean="0"/>
              <a:t>‹#›</a:t>
            </a:fld>
            <a:endParaRPr lang="en-IN"/>
          </a:p>
        </p:txBody>
      </p:sp>
    </p:spTree>
    <p:extLst>
      <p:ext uri="{BB962C8B-B14F-4D97-AF65-F5344CB8AC3E}">
        <p14:creationId xmlns:p14="http://schemas.microsoft.com/office/powerpoint/2010/main" val="830031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CCADAB-EAC7-4B1E-88B8-EB9D131D6BB2}" type="slidenum">
              <a:rPr lang="en-IN" smtClean="0"/>
              <a:t>16</a:t>
            </a:fld>
            <a:endParaRPr lang="en-IN"/>
          </a:p>
        </p:txBody>
      </p:sp>
    </p:spTree>
    <p:extLst>
      <p:ext uri="{BB962C8B-B14F-4D97-AF65-F5344CB8AC3E}">
        <p14:creationId xmlns:p14="http://schemas.microsoft.com/office/powerpoint/2010/main" val="2286986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400" b="0" i="0">
                <a:solidFill>
                  <a:schemeClr val="bg1"/>
                </a:solidFill>
                <a:latin typeface="Arial MT"/>
                <a:cs typeface="Arial MT"/>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5" name="Holder 5"/>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1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5" name="Holder 5"/>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6" name="Holder 6"/>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7" name="Holder 7"/>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88361" y="324219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3008744" y="3238232"/>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8" name="bg object 18"/>
          <p:cNvSpPr/>
          <p:nvPr/>
        </p:nvSpPr>
        <p:spPr>
          <a:xfrm>
            <a:off x="3186546" y="3238232"/>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19" name="bg object 19"/>
          <p:cNvSpPr/>
          <p:nvPr/>
        </p:nvSpPr>
        <p:spPr>
          <a:xfrm>
            <a:off x="3339032" y="323188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3275863"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bg object 21"/>
          <p:cNvSpPr/>
          <p:nvPr/>
        </p:nvSpPr>
        <p:spPr>
          <a:xfrm>
            <a:off x="3631883" y="324458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3542982"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3" name="bg object 23"/>
          <p:cNvSpPr/>
          <p:nvPr/>
        </p:nvSpPr>
        <p:spPr>
          <a:xfrm>
            <a:off x="3619183" y="323188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4" name="bg object 24"/>
          <p:cNvSpPr/>
          <p:nvPr/>
        </p:nvSpPr>
        <p:spPr>
          <a:xfrm>
            <a:off x="3886302" y="323188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3810101"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6" name="bg object 26"/>
          <p:cNvSpPr/>
          <p:nvPr/>
        </p:nvSpPr>
        <p:spPr>
          <a:xfrm>
            <a:off x="3886302" y="326998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7" name="bg object 27"/>
          <p:cNvSpPr/>
          <p:nvPr/>
        </p:nvSpPr>
        <p:spPr>
          <a:xfrm>
            <a:off x="4153434" y="323188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4451033" y="326236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4423969" y="323586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4329112" y="323188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31" name="bg object 31"/>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4" name="Holder 4"/>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5" name="Holder 5"/>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3" name="Holder 3"/>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4" name="Holder 4"/>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88361" y="324219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3008744" y="3238232"/>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8" name="bg object 18"/>
          <p:cNvSpPr/>
          <p:nvPr/>
        </p:nvSpPr>
        <p:spPr>
          <a:xfrm>
            <a:off x="3186546" y="3238232"/>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19" name="bg object 19"/>
          <p:cNvSpPr/>
          <p:nvPr/>
        </p:nvSpPr>
        <p:spPr>
          <a:xfrm>
            <a:off x="3339032" y="323188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3275863"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bg object 21"/>
          <p:cNvSpPr/>
          <p:nvPr/>
        </p:nvSpPr>
        <p:spPr>
          <a:xfrm>
            <a:off x="3631883" y="324458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3542982"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3" name="bg object 23"/>
          <p:cNvSpPr/>
          <p:nvPr/>
        </p:nvSpPr>
        <p:spPr>
          <a:xfrm>
            <a:off x="3619183" y="323188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4" name="bg object 24"/>
          <p:cNvSpPr/>
          <p:nvPr/>
        </p:nvSpPr>
        <p:spPr>
          <a:xfrm>
            <a:off x="3886302" y="323188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3810101"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6" name="bg object 26"/>
          <p:cNvSpPr/>
          <p:nvPr/>
        </p:nvSpPr>
        <p:spPr>
          <a:xfrm>
            <a:off x="3886302" y="326998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7" name="bg object 27"/>
          <p:cNvSpPr/>
          <p:nvPr/>
        </p:nvSpPr>
        <p:spPr>
          <a:xfrm>
            <a:off x="4153434" y="323188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4451033" y="326236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4423969" y="323586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4329112" y="323188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2" name="Holder 2"/>
          <p:cNvSpPr>
            <a:spLocks noGrp="1"/>
          </p:cNvSpPr>
          <p:nvPr>
            <p:ph type="title"/>
          </p:nvPr>
        </p:nvSpPr>
        <p:spPr>
          <a:xfrm>
            <a:off x="95300" y="45565"/>
            <a:ext cx="1442720" cy="244475"/>
          </a:xfrm>
          <a:prstGeom prst="rect">
            <a:avLst/>
          </a:prstGeom>
        </p:spPr>
        <p:txBody>
          <a:bodyPr wrap="square" lIns="0" tIns="0" rIns="0" bIns="0">
            <a:spAutoFit/>
          </a:bodyPr>
          <a:lstStyle>
            <a:lvl1pPr>
              <a:defRPr sz="1400" b="0" i="0">
                <a:solidFill>
                  <a:schemeClr val="bg1"/>
                </a:solidFill>
                <a:latin typeface="Arial MT"/>
                <a:cs typeface="Arial MT"/>
              </a:defRPr>
            </a:lvl1pPr>
          </a:lstStyle>
          <a:p>
            <a:endParaRPr/>
          </a:p>
        </p:txBody>
      </p:sp>
      <p:sp>
        <p:nvSpPr>
          <p:cNvPr id="3" name="Holder 3"/>
          <p:cNvSpPr>
            <a:spLocks noGrp="1"/>
          </p:cNvSpPr>
          <p:nvPr>
            <p:ph type="body" idx="1"/>
          </p:nvPr>
        </p:nvSpPr>
        <p:spPr>
          <a:xfrm>
            <a:off x="125844" y="614685"/>
            <a:ext cx="4356735" cy="2318385"/>
          </a:xfrm>
          <a:prstGeom prst="rect">
            <a:avLst/>
          </a:prstGeom>
        </p:spPr>
        <p:txBody>
          <a:bodyPr wrap="square" lIns="0" tIns="0" rIns="0" bIns="0">
            <a:spAutoFit/>
          </a:bodyPr>
          <a:lstStyle>
            <a:lvl1pPr>
              <a:defRPr sz="10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102044" y="3331252"/>
            <a:ext cx="1332230"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5" name="Holder 5"/>
          <p:cNvSpPr>
            <a:spLocks noGrp="1"/>
          </p:cNvSpPr>
          <p:nvPr>
            <p:ph type="dt" sz="half" idx="6"/>
          </p:nvPr>
        </p:nvSpPr>
        <p:spPr>
          <a:xfrm>
            <a:off x="3432695" y="3331252"/>
            <a:ext cx="599439"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a:xfrm>
            <a:off x="4275161" y="3331252"/>
            <a:ext cx="266700"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www.kaggle.com/datasets/msambare/fer2013" TargetMode="Externa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4.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7931" y="15057"/>
            <a:ext cx="4483735" cy="502284"/>
            <a:chOff x="87743" y="197421"/>
            <a:chExt cx="4483735" cy="502284"/>
          </a:xfrm>
        </p:grpSpPr>
        <p:sp>
          <p:nvSpPr>
            <p:cNvPr id="3" name="object 3"/>
            <p:cNvSpPr/>
            <p:nvPr/>
          </p:nvSpPr>
          <p:spPr>
            <a:xfrm>
              <a:off x="87743" y="197421"/>
              <a:ext cx="4432935" cy="82550"/>
            </a:xfrm>
            <a:custGeom>
              <a:avLst/>
              <a:gdLst/>
              <a:ahLst/>
              <a:cxnLst/>
              <a:rect l="l" t="t" r="r" b="b"/>
              <a:pathLst>
                <a:path w="4432935" h="82550">
                  <a:moveTo>
                    <a:pt x="4381765" y="0"/>
                  </a:moveTo>
                  <a:lnTo>
                    <a:pt x="50800" y="0"/>
                  </a:lnTo>
                  <a:lnTo>
                    <a:pt x="31075" y="4008"/>
                  </a:lnTo>
                  <a:lnTo>
                    <a:pt x="14922" y="14922"/>
                  </a:lnTo>
                  <a:lnTo>
                    <a:pt x="4008" y="31075"/>
                  </a:lnTo>
                  <a:lnTo>
                    <a:pt x="0" y="50800"/>
                  </a:lnTo>
                  <a:lnTo>
                    <a:pt x="0" y="82384"/>
                  </a:lnTo>
                  <a:lnTo>
                    <a:pt x="4432566" y="82384"/>
                  </a:lnTo>
                  <a:lnTo>
                    <a:pt x="4432566" y="50800"/>
                  </a:lnTo>
                  <a:lnTo>
                    <a:pt x="4428558" y="31075"/>
                  </a:lnTo>
                  <a:lnTo>
                    <a:pt x="4417643" y="14922"/>
                  </a:lnTo>
                  <a:lnTo>
                    <a:pt x="4401490" y="4008"/>
                  </a:lnTo>
                  <a:lnTo>
                    <a:pt x="4381765" y="0"/>
                  </a:lnTo>
                  <a:close/>
                </a:path>
              </a:pathLst>
            </a:custGeom>
            <a:solidFill>
              <a:srgbClr val="3333B2"/>
            </a:solidFill>
          </p:spPr>
          <p:txBody>
            <a:bodyPr wrap="square" lIns="0" tIns="0" rIns="0" bIns="0" rtlCol="0"/>
            <a:lstStyle/>
            <a:p>
              <a:endParaRPr/>
            </a:p>
          </p:txBody>
        </p:sp>
        <p:sp>
          <p:nvSpPr>
            <p:cNvPr id="4" name="object 4"/>
            <p:cNvSpPr/>
            <p:nvPr/>
          </p:nvSpPr>
          <p:spPr>
            <a:xfrm>
              <a:off x="138544" y="260684"/>
              <a:ext cx="4432935" cy="438784"/>
            </a:xfrm>
            <a:custGeom>
              <a:avLst/>
              <a:gdLst/>
              <a:ahLst/>
              <a:cxnLst/>
              <a:rect l="l" t="t" r="r" b="b"/>
              <a:pathLst>
                <a:path w="4432935" h="438784">
                  <a:moveTo>
                    <a:pt x="4432566" y="0"/>
                  </a:moveTo>
                  <a:lnTo>
                    <a:pt x="0" y="0"/>
                  </a:lnTo>
                  <a:lnTo>
                    <a:pt x="0" y="438781"/>
                  </a:lnTo>
                  <a:lnTo>
                    <a:pt x="4432566" y="438781"/>
                  </a:lnTo>
                  <a:lnTo>
                    <a:pt x="4432566" y="0"/>
                  </a:lnTo>
                  <a:close/>
                </a:path>
              </a:pathLst>
            </a:custGeom>
            <a:solidFill>
              <a:srgbClr val="000000"/>
            </a:solidFill>
          </p:spPr>
          <p:txBody>
            <a:bodyPr wrap="square" lIns="0" tIns="0" rIns="0" bIns="0" rtlCol="0"/>
            <a:lstStyle/>
            <a:p>
              <a:endParaRPr/>
            </a:p>
          </p:txBody>
        </p:sp>
        <p:sp>
          <p:nvSpPr>
            <p:cNvPr id="5" name="object 5"/>
            <p:cNvSpPr/>
            <p:nvPr/>
          </p:nvSpPr>
          <p:spPr>
            <a:xfrm>
              <a:off x="87743" y="241848"/>
              <a:ext cx="4432935" cy="407034"/>
            </a:xfrm>
            <a:custGeom>
              <a:avLst/>
              <a:gdLst/>
              <a:ahLst/>
              <a:cxnLst/>
              <a:rect l="l" t="t" r="r" b="b"/>
              <a:pathLst>
                <a:path w="4432935" h="407034">
                  <a:moveTo>
                    <a:pt x="4432566" y="0"/>
                  </a:moveTo>
                  <a:lnTo>
                    <a:pt x="0" y="0"/>
                  </a:lnTo>
                  <a:lnTo>
                    <a:pt x="0" y="356017"/>
                  </a:lnTo>
                  <a:lnTo>
                    <a:pt x="4008" y="375741"/>
                  </a:lnTo>
                  <a:lnTo>
                    <a:pt x="14922" y="391894"/>
                  </a:lnTo>
                  <a:lnTo>
                    <a:pt x="31075" y="402808"/>
                  </a:lnTo>
                  <a:lnTo>
                    <a:pt x="50800" y="406817"/>
                  </a:lnTo>
                  <a:lnTo>
                    <a:pt x="4381765" y="406817"/>
                  </a:lnTo>
                  <a:lnTo>
                    <a:pt x="4401490" y="402808"/>
                  </a:lnTo>
                  <a:lnTo>
                    <a:pt x="4417643" y="391894"/>
                  </a:lnTo>
                  <a:lnTo>
                    <a:pt x="4428558" y="375741"/>
                  </a:lnTo>
                  <a:lnTo>
                    <a:pt x="4432566" y="356017"/>
                  </a:lnTo>
                  <a:lnTo>
                    <a:pt x="4432566" y="0"/>
                  </a:lnTo>
                  <a:close/>
                </a:path>
              </a:pathLst>
            </a:custGeom>
            <a:solidFill>
              <a:srgbClr val="3333B2"/>
            </a:solidFill>
          </p:spPr>
          <p:txBody>
            <a:bodyPr wrap="square" lIns="0" tIns="0" rIns="0" bIns="0" rtlCol="0"/>
            <a:lstStyle/>
            <a:p>
              <a:endParaRPr/>
            </a:p>
          </p:txBody>
        </p:sp>
      </p:grpSp>
      <p:sp>
        <p:nvSpPr>
          <p:cNvPr id="6" name="object 6"/>
          <p:cNvSpPr txBox="1">
            <a:spLocks noGrp="1"/>
          </p:cNvSpPr>
          <p:nvPr>
            <p:ph type="title"/>
          </p:nvPr>
        </p:nvSpPr>
        <p:spPr>
          <a:xfrm>
            <a:off x="75711" y="-22157"/>
            <a:ext cx="4432935" cy="923970"/>
          </a:xfrm>
          <a:prstGeom prst="rect">
            <a:avLst/>
          </a:prstGeom>
        </p:spPr>
        <p:txBody>
          <a:bodyPr vert="horz" wrap="square" lIns="0" tIns="61594" rIns="0" bIns="0" rtlCol="0">
            <a:spAutoFit/>
          </a:bodyPr>
          <a:lstStyle/>
          <a:p>
            <a:pPr marR="43180" algn="ctr">
              <a:lnSpc>
                <a:spcPct val="100000"/>
              </a:lnSpc>
              <a:spcBef>
                <a:spcPts val="484"/>
              </a:spcBef>
            </a:pPr>
            <a:r>
              <a:rPr lang="en-IN" spc="-10" dirty="0"/>
              <a:t>MindTrace: Real Time Emotion Based Productivity Monitoring System</a:t>
            </a:r>
            <a:br>
              <a:rPr lang="en-IN" spc="-10" dirty="0"/>
            </a:br>
            <a:br>
              <a:rPr lang="en-IN" spc="-10" dirty="0"/>
            </a:br>
            <a:endParaRPr spc="-10" dirty="0"/>
          </a:p>
        </p:txBody>
      </p:sp>
      <p:sp>
        <p:nvSpPr>
          <p:cNvPr id="7" name="object 7"/>
          <p:cNvSpPr txBox="1"/>
          <p:nvPr/>
        </p:nvSpPr>
        <p:spPr>
          <a:xfrm>
            <a:off x="582599" y="542339"/>
            <a:ext cx="3505200" cy="1599797"/>
          </a:xfrm>
          <a:prstGeom prst="rect">
            <a:avLst/>
          </a:prstGeom>
        </p:spPr>
        <p:txBody>
          <a:bodyPr vert="horz" wrap="square" lIns="0" tIns="6985" rIns="0" bIns="0" rtlCol="0">
            <a:spAutoFit/>
          </a:bodyPr>
          <a:lstStyle/>
          <a:p>
            <a:pPr marL="12700" marR="97790" algn="ctr">
              <a:spcBef>
                <a:spcPts val="55"/>
              </a:spcBef>
            </a:pPr>
            <a:r>
              <a:rPr lang="en-IN" sz="1100" dirty="0">
                <a:latin typeface="Arial MT"/>
                <a:cs typeface="Arial MT"/>
              </a:rPr>
              <a:t>Shraddha Dashpute</a:t>
            </a:r>
          </a:p>
          <a:p>
            <a:pPr marR="97790" algn="ctr">
              <a:spcBef>
                <a:spcPts val="55"/>
              </a:spcBef>
            </a:pPr>
            <a:r>
              <a:rPr lang="en-IN" sz="1100" dirty="0">
                <a:latin typeface="Arial MT"/>
                <a:cs typeface="Arial MT"/>
              </a:rPr>
              <a:t>Sankalp Gaikwad</a:t>
            </a:r>
          </a:p>
          <a:p>
            <a:pPr marR="97790" algn="ctr">
              <a:spcBef>
                <a:spcPts val="55"/>
              </a:spcBef>
            </a:pPr>
            <a:r>
              <a:rPr lang="en-IN" sz="1100" dirty="0">
                <a:latin typeface="Arial MT"/>
                <a:cs typeface="Arial MT"/>
              </a:rPr>
              <a:t>Hemant Choudhary</a:t>
            </a:r>
          </a:p>
          <a:p>
            <a:pPr marL="12700" marR="97790" algn="ctr">
              <a:spcBef>
                <a:spcPts val="55"/>
              </a:spcBef>
            </a:pPr>
            <a:r>
              <a:rPr lang="en-IN" sz="1100" dirty="0">
                <a:latin typeface="Arial MT"/>
                <a:cs typeface="Arial MT"/>
              </a:rPr>
              <a:t>Priyanshu Jadhav</a:t>
            </a:r>
          </a:p>
          <a:p>
            <a:pPr marL="12700" marR="97790" algn="ctr">
              <a:spcBef>
                <a:spcPts val="55"/>
              </a:spcBef>
            </a:pPr>
            <a:r>
              <a:rPr lang="en-IN" sz="1100" dirty="0">
                <a:latin typeface="Arial MT"/>
                <a:cs typeface="Arial MT"/>
              </a:rPr>
              <a:t>Balaji Motkulwar</a:t>
            </a:r>
            <a:endParaRPr sz="1100" dirty="0">
              <a:latin typeface="Arial MT"/>
              <a:cs typeface="Arial MT"/>
            </a:endParaRPr>
          </a:p>
          <a:p>
            <a:pPr>
              <a:spcBef>
                <a:spcPts val="125"/>
              </a:spcBef>
            </a:pPr>
            <a:endParaRPr sz="1100" dirty="0">
              <a:latin typeface="Arial MT"/>
              <a:cs typeface="Arial MT"/>
            </a:endParaRPr>
          </a:p>
          <a:p>
            <a:pPr algn="ctr"/>
            <a:r>
              <a:rPr sz="1100" spc="-10" dirty="0">
                <a:latin typeface="Arial MT"/>
                <a:cs typeface="Arial MT"/>
              </a:rPr>
              <a:t>Guide-</a:t>
            </a:r>
            <a:r>
              <a:rPr lang="en-IN" sz="1100" spc="-10" dirty="0">
                <a:latin typeface="Arial MT"/>
                <a:cs typeface="Arial MT"/>
              </a:rPr>
              <a:t>Mrs. Yogita Narwadkar</a:t>
            </a:r>
            <a:endParaRPr sz="1100" dirty="0">
              <a:latin typeface="Arial MT"/>
              <a:cs typeface="Arial MT"/>
            </a:endParaRPr>
          </a:p>
          <a:p>
            <a:pPr>
              <a:spcBef>
                <a:spcPts val="370"/>
              </a:spcBef>
            </a:pPr>
            <a:endParaRPr sz="1100" dirty="0">
              <a:latin typeface="Arial MT"/>
              <a:cs typeface="Arial MT"/>
            </a:endParaRPr>
          </a:p>
          <a:p>
            <a:pPr algn="ctr">
              <a:spcBef>
                <a:spcPts val="5"/>
              </a:spcBef>
            </a:pPr>
            <a:r>
              <a:rPr sz="800" dirty="0">
                <a:latin typeface="Arial MT"/>
                <a:cs typeface="Arial MT"/>
              </a:rPr>
              <a:t>Project</a:t>
            </a:r>
            <a:r>
              <a:rPr sz="800" spc="-20" dirty="0">
                <a:latin typeface="Arial MT"/>
                <a:cs typeface="Arial MT"/>
              </a:rPr>
              <a:t> </a:t>
            </a:r>
            <a:r>
              <a:rPr sz="800" spc="-10" dirty="0">
                <a:latin typeface="Arial MT"/>
                <a:cs typeface="Arial MT"/>
              </a:rPr>
              <a:t>Stage-</a:t>
            </a:r>
            <a:r>
              <a:rPr sz="800" spc="-50" dirty="0">
                <a:latin typeface="Arial MT"/>
                <a:cs typeface="Arial MT"/>
              </a:rPr>
              <a:t>I</a:t>
            </a:r>
            <a:endParaRPr sz="800" dirty="0">
              <a:latin typeface="Arial MT"/>
              <a:cs typeface="Arial MT"/>
            </a:endParaRPr>
          </a:p>
        </p:txBody>
      </p:sp>
      <p:pic>
        <p:nvPicPr>
          <p:cNvPr id="8" name="object 8"/>
          <p:cNvPicPr/>
          <p:nvPr/>
        </p:nvPicPr>
        <p:blipFill>
          <a:blip r:embed="rId2" cstate="print"/>
          <a:stretch>
            <a:fillRect/>
          </a:stretch>
        </p:blipFill>
        <p:spPr>
          <a:xfrm>
            <a:off x="2050618" y="2249055"/>
            <a:ext cx="502919" cy="647700"/>
          </a:xfrm>
          <a:prstGeom prst="rect">
            <a:avLst/>
          </a:prstGeom>
        </p:spPr>
      </p:pic>
      <p:sp>
        <p:nvSpPr>
          <p:cNvPr id="9" name="object 9"/>
          <p:cNvSpPr txBox="1"/>
          <p:nvPr/>
        </p:nvSpPr>
        <p:spPr>
          <a:xfrm>
            <a:off x="1447482" y="2903028"/>
            <a:ext cx="1713230" cy="387350"/>
          </a:xfrm>
          <a:prstGeom prst="rect">
            <a:avLst/>
          </a:prstGeom>
        </p:spPr>
        <p:txBody>
          <a:bodyPr vert="horz" wrap="square" lIns="0" tIns="17145" rIns="0" bIns="0" rtlCol="0">
            <a:spAutoFit/>
          </a:bodyPr>
          <a:lstStyle/>
          <a:p>
            <a:pPr marL="12700" marR="5080" algn="ctr">
              <a:lnSpc>
                <a:spcPts val="950"/>
              </a:lnSpc>
              <a:spcBef>
                <a:spcPts val="135"/>
              </a:spcBef>
            </a:pPr>
            <a:r>
              <a:rPr sz="800" dirty="0">
                <a:latin typeface="Arial MT"/>
                <a:cs typeface="Arial MT"/>
              </a:rPr>
              <a:t>PES</a:t>
            </a:r>
            <a:r>
              <a:rPr sz="800" spc="-30" dirty="0">
                <a:latin typeface="Arial MT"/>
                <a:cs typeface="Arial MT"/>
              </a:rPr>
              <a:t> </a:t>
            </a:r>
            <a:r>
              <a:rPr sz="800" dirty="0">
                <a:latin typeface="Arial MT"/>
                <a:cs typeface="Arial MT"/>
              </a:rPr>
              <a:t>Modern</a:t>
            </a:r>
            <a:r>
              <a:rPr sz="800" spc="-25" dirty="0">
                <a:latin typeface="Arial MT"/>
                <a:cs typeface="Arial MT"/>
              </a:rPr>
              <a:t> </a:t>
            </a:r>
            <a:r>
              <a:rPr sz="800" dirty="0">
                <a:latin typeface="Arial MT"/>
                <a:cs typeface="Arial MT"/>
              </a:rPr>
              <a:t>College</a:t>
            </a:r>
            <a:r>
              <a:rPr sz="800" spc="-30" dirty="0">
                <a:latin typeface="Arial MT"/>
                <a:cs typeface="Arial MT"/>
              </a:rPr>
              <a:t> </a:t>
            </a:r>
            <a:r>
              <a:rPr sz="800" dirty="0">
                <a:latin typeface="Arial MT"/>
                <a:cs typeface="Arial MT"/>
              </a:rPr>
              <a:t>of</a:t>
            </a:r>
            <a:r>
              <a:rPr sz="800" spc="-25" dirty="0">
                <a:latin typeface="Arial MT"/>
                <a:cs typeface="Arial MT"/>
              </a:rPr>
              <a:t> </a:t>
            </a:r>
            <a:r>
              <a:rPr sz="800" spc="-10" dirty="0">
                <a:latin typeface="Arial MT"/>
                <a:cs typeface="Arial MT"/>
              </a:rPr>
              <a:t>Engineering </a:t>
            </a:r>
            <a:r>
              <a:rPr sz="800" dirty="0">
                <a:latin typeface="Arial MT"/>
                <a:cs typeface="Arial MT"/>
              </a:rPr>
              <a:t>Department</a:t>
            </a:r>
            <a:r>
              <a:rPr sz="800" spc="-30" dirty="0">
                <a:latin typeface="Arial MT"/>
                <a:cs typeface="Arial MT"/>
              </a:rPr>
              <a:t> </a:t>
            </a:r>
            <a:r>
              <a:rPr sz="800" dirty="0">
                <a:latin typeface="Arial MT"/>
                <a:cs typeface="Arial MT"/>
              </a:rPr>
              <a:t>of</a:t>
            </a:r>
            <a:r>
              <a:rPr sz="800" spc="-25" dirty="0">
                <a:latin typeface="Arial MT"/>
                <a:cs typeface="Arial MT"/>
              </a:rPr>
              <a:t> </a:t>
            </a:r>
            <a:r>
              <a:rPr sz="800" dirty="0">
                <a:latin typeface="Arial MT"/>
                <a:cs typeface="Arial MT"/>
              </a:rPr>
              <a:t>Computer</a:t>
            </a:r>
            <a:r>
              <a:rPr sz="800" spc="-25" dirty="0">
                <a:latin typeface="Arial MT"/>
                <a:cs typeface="Arial MT"/>
              </a:rPr>
              <a:t> </a:t>
            </a:r>
            <a:r>
              <a:rPr sz="800" spc="-10" dirty="0">
                <a:latin typeface="Arial MT"/>
                <a:cs typeface="Arial MT"/>
              </a:rPr>
              <a:t>Engineering Savitribai</a:t>
            </a:r>
            <a:r>
              <a:rPr sz="800" spc="-20" dirty="0">
                <a:latin typeface="Arial MT"/>
                <a:cs typeface="Arial MT"/>
              </a:rPr>
              <a:t> </a:t>
            </a:r>
            <a:r>
              <a:rPr sz="800" dirty="0">
                <a:latin typeface="Arial MT"/>
                <a:cs typeface="Arial MT"/>
              </a:rPr>
              <a:t>Phule</a:t>
            </a:r>
            <a:r>
              <a:rPr sz="800" spc="-15" dirty="0">
                <a:latin typeface="Arial MT"/>
                <a:cs typeface="Arial MT"/>
              </a:rPr>
              <a:t> </a:t>
            </a:r>
            <a:r>
              <a:rPr sz="800" dirty="0">
                <a:latin typeface="Arial MT"/>
                <a:cs typeface="Arial MT"/>
              </a:rPr>
              <a:t>Pune</a:t>
            </a:r>
            <a:r>
              <a:rPr sz="800" spc="-15" dirty="0">
                <a:latin typeface="Arial MT"/>
                <a:cs typeface="Arial MT"/>
              </a:rPr>
              <a:t> </a:t>
            </a:r>
            <a:r>
              <a:rPr sz="800" spc="-10" dirty="0">
                <a:latin typeface="Arial MT"/>
                <a:cs typeface="Arial MT"/>
              </a:rPr>
              <a:t>University</a:t>
            </a:r>
            <a:endParaRPr sz="800">
              <a:latin typeface="Arial MT"/>
              <a:cs typeface="Arial MT"/>
            </a:endParaRPr>
          </a:p>
        </p:txBody>
      </p:sp>
      <p:grpSp>
        <p:nvGrpSpPr>
          <p:cNvPr id="10" name="object 10"/>
          <p:cNvGrpSpPr/>
          <p:nvPr/>
        </p:nvGrpSpPr>
        <p:grpSpPr>
          <a:xfrm>
            <a:off x="0" y="3326968"/>
            <a:ext cx="4608195" cy="129539"/>
            <a:chOff x="0" y="3326968"/>
            <a:chExt cx="4608195" cy="129539"/>
          </a:xfrm>
        </p:grpSpPr>
        <p:sp>
          <p:nvSpPr>
            <p:cNvPr id="11" name="object 11"/>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2" name="object 12"/>
            <p:cNvSpPr/>
            <p:nvPr/>
          </p:nvSpPr>
          <p:spPr>
            <a:xfrm>
              <a:off x="1535976"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262685"/>
            </a:solidFill>
          </p:spPr>
          <p:txBody>
            <a:bodyPr wrap="square" lIns="0" tIns="0" rIns="0" bIns="0" rtlCol="0"/>
            <a:lstStyle/>
            <a:p>
              <a:endParaRPr/>
            </a:p>
          </p:txBody>
        </p:sp>
        <p:sp>
          <p:nvSpPr>
            <p:cNvPr id="13" name="object 13"/>
            <p:cNvSpPr/>
            <p:nvPr/>
          </p:nvSpPr>
          <p:spPr>
            <a:xfrm>
              <a:off x="3071952"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3333B2"/>
            </a:solidFill>
          </p:spPr>
          <p:txBody>
            <a:bodyPr wrap="square" lIns="0" tIns="0" rIns="0" bIns="0" rtlCol="0"/>
            <a:lstStyle/>
            <a:p>
              <a:endParaRPr/>
            </a:p>
          </p:txBody>
        </p:sp>
      </p:grpSp>
      <p:sp>
        <p:nvSpPr>
          <p:cNvPr id="14" name="object 14"/>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5" name="object 15"/>
          <p:cNvSpPr txBox="1"/>
          <p:nvPr/>
        </p:nvSpPr>
        <p:spPr>
          <a:xfrm>
            <a:off x="2000250" y="3331251"/>
            <a:ext cx="491172"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sz="600" dirty="0">
              <a:latin typeface="Arial MT"/>
              <a:cs typeface="Arial MT"/>
            </a:endParaRPr>
          </a:p>
        </p:txBody>
      </p:sp>
      <p:sp>
        <p:nvSpPr>
          <p:cNvPr id="16" name="object 16"/>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spc="-20" dirty="0"/>
              <a:t>02</a:t>
            </a:r>
            <a:r>
              <a:rPr lang="en-US" spc="-20" dirty="0"/>
              <a:t>5</a:t>
            </a:r>
            <a:endParaRPr spc="-20" dirty="0"/>
          </a:p>
        </p:txBody>
      </p:sp>
      <p:sp>
        <p:nvSpPr>
          <p:cNvPr id="17" name="object 17"/>
          <p:cNvSpPr txBox="1">
            <a:spLocks noGrp="1"/>
          </p:cNvSpPr>
          <p:nvPr>
            <p:ph type="sldNum" sz="quarter" idx="7"/>
          </p:nvPr>
        </p:nvSpPr>
        <p:spPr>
          <a:xfrm>
            <a:off x="4275161" y="3331252"/>
            <a:ext cx="266700" cy="206467"/>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a:t>
            </a:fld>
            <a:r>
              <a:rPr spc="-70" dirty="0"/>
              <a:t> </a:t>
            </a:r>
            <a:r>
              <a:rPr dirty="0"/>
              <a:t>/</a:t>
            </a:r>
            <a:r>
              <a:rPr spc="-65" dirty="0"/>
              <a:t> </a:t>
            </a:r>
            <a:r>
              <a:rPr lang="en-US" spc="-65" dirty="0"/>
              <a:t>24</a:t>
            </a:r>
          </a:p>
          <a:p>
            <a:pPr marL="38100">
              <a:lnSpc>
                <a:spcPct val="100000"/>
              </a:lnSpc>
              <a:spcBef>
                <a:spcPts val="70"/>
              </a:spcBef>
            </a:pPr>
            <a:endParaRPr spc="-25" dirty="0"/>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Contents</a:t>
            </a:r>
          </a:p>
        </p:txBody>
      </p:sp>
      <p:pic>
        <p:nvPicPr>
          <p:cNvPr id="4" name="object 4"/>
          <p:cNvPicPr/>
          <p:nvPr/>
        </p:nvPicPr>
        <p:blipFill>
          <a:blip r:embed="rId2" cstate="print"/>
          <a:stretch>
            <a:fillRect/>
          </a:stretch>
        </p:blipFill>
        <p:spPr>
          <a:xfrm>
            <a:off x="80581" y="339318"/>
            <a:ext cx="188391" cy="2774530"/>
          </a:xfrm>
          <a:prstGeom prst="rect">
            <a:avLst/>
          </a:prstGeom>
        </p:spPr>
      </p:pic>
      <p:sp>
        <p:nvSpPr>
          <p:cNvPr id="5" name="object 5"/>
          <p:cNvSpPr txBox="1"/>
          <p:nvPr/>
        </p:nvSpPr>
        <p:spPr>
          <a:xfrm>
            <a:off x="325107" y="314500"/>
            <a:ext cx="2766060" cy="2796540"/>
          </a:xfrm>
          <a:prstGeom prst="rect">
            <a:avLst/>
          </a:prstGeom>
        </p:spPr>
        <p:txBody>
          <a:bodyPr vert="horz" wrap="square" lIns="0" tIns="12700" rIns="0" bIns="0" rtlCol="0">
            <a:spAutoFit/>
          </a:bodyPr>
          <a:lstStyle/>
          <a:p>
            <a:pPr marL="12700" marR="1675764">
              <a:lnSpc>
                <a:spcPct val="110200"/>
              </a:lnSpc>
              <a:spcBef>
                <a:spcPts val="100"/>
              </a:spcBef>
            </a:pPr>
            <a:r>
              <a:rPr sz="1100" spc="-10" dirty="0">
                <a:solidFill>
                  <a:srgbClr val="3333B2"/>
                </a:solidFill>
                <a:latin typeface="Arial MT"/>
                <a:cs typeface="Arial MT"/>
                <a:hlinkClick r:id="rId3" action="ppaction://hlinksldjump"/>
              </a:rPr>
              <a:t>Introduction</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Literature</a:t>
            </a:r>
            <a:r>
              <a:rPr sz="1100" spc="-70" dirty="0">
                <a:solidFill>
                  <a:srgbClr val="3333B2"/>
                </a:solidFill>
                <a:latin typeface="Arial MT"/>
                <a:cs typeface="Arial MT"/>
                <a:hlinkClick r:id="rId3" action="ppaction://hlinksldjump"/>
              </a:rPr>
              <a:t> </a:t>
            </a:r>
            <a:r>
              <a:rPr sz="1100" spc="-25" dirty="0">
                <a:solidFill>
                  <a:srgbClr val="3333B2"/>
                </a:solidFill>
                <a:latin typeface="Arial MT"/>
                <a:cs typeface="Arial MT"/>
                <a:hlinkClick r:id="rId3" action="ppaction://hlinksldjump"/>
              </a:rPr>
              <a:t>Review</a:t>
            </a:r>
            <a:endParaRPr sz="1100">
              <a:latin typeface="Arial MT"/>
              <a:cs typeface="Arial MT"/>
            </a:endParaRPr>
          </a:p>
          <a:p>
            <a:pPr marL="12700" marR="1023619">
              <a:lnSpc>
                <a:spcPct val="110200"/>
              </a:lnSpc>
            </a:pPr>
            <a:r>
              <a:rPr sz="1100" dirty="0">
                <a:solidFill>
                  <a:srgbClr val="3333B2"/>
                </a:solidFill>
                <a:latin typeface="Arial MT"/>
                <a:cs typeface="Arial MT"/>
                <a:hlinkClick r:id="rId3" action="ppaction://hlinksldjump"/>
              </a:rPr>
              <a:t>Need</a:t>
            </a:r>
            <a:r>
              <a:rPr sz="1100" spc="-2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a:t>
            </a:r>
            <a:r>
              <a:rPr sz="1100" spc="-2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Objective</a:t>
            </a:r>
            <a:r>
              <a:rPr sz="1100" spc="-2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and</a:t>
            </a:r>
            <a:r>
              <a:rPr sz="1100" spc="-1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Scope</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Problem</a:t>
            </a:r>
            <a:r>
              <a:rPr sz="1100" spc="-7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Statement</a:t>
            </a:r>
            <a:r>
              <a:rPr sz="1100" spc="-10" dirty="0">
                <a:solidFill>
                  <a:srgbClr val="3333B2"/>
                </a:solidFill>
                <a:latin typeface="Arial MT"/>
                <a:cs typeface="Arial MT"/>
              </a:rPr>
              <a:t> </a:t>
            </a:r>
            <a:r>
              <a:rPr sz="1100" spc="-10" dirty="0">
                <a:solidFill>
                  <a:srgbClr val="3333B2"/>
                </a:solidFill>
                <a:latin typeface="Arial MT"/>
                <a:cs typeface="Arial MT"/>
                <a:hlinkClick r:id="rId3" action="ppaction://hlinksldjump"/>
              </a:rPr>
              <a:t>Architectural</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Diagram/s</a:t>
            </a:r>
            <a:endParaRPr sz="1100">
              <a:latin typeface="Arial MT"/>
              <a:cs typeface="Arial MT"/>
            </a:endParaRPr>
          </a:p>
          <a:p>
            <a:pPr marL="12700">
              <a:lnSpc>
                <a:spcPct val="100000"/>
              </a:lnSpc>
              <a:spcBef>
                <a:spcPts val="135"/>
              </a:spcBef>
            </a:pPr>
            <a:r>
              <a:rPr sz="1100" dirty="0">
                <a:solidFill>
                  <a:srgbClr val="3333B2"/>
                </a:solidFill>
                <a:latin typeface="Arial MT"/>
                <a:cs typeface="Arial MT"/>
                <a:hlinkClick r:id="rId3" action="ppaction://hlinksldjump"/>
              </a:rPr>
              <a:t>Mathematical</a:t>
            </a:r>
            <a:r>
              <a:rPr sz="1100" spc="-5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Model</a:t>
            </a:r>
            <a:r>
              <a:rPr sz="1100" spc="-5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with</a:t>
            </a:r>
            <a:r>
              <a:rPr sz="1100" spc="-5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formula</a:t>
            </a:r>
            <a:endParaRPr sz="1100">
              <a:latin typeface="Arial MT"/>
              <a:cs typeface="Arial MT"/>
            </a:endParaRPr>
          </a:p>
          <a:p>
            <a:pPr marL="12700" marR="5080">
              <a:lnSpc>
                <a:spcPct val="110200"/>
              </a:lnSpc>
            </a:pPr>
            <a:r>
              <a:rPr sz="1100" spc="-10" dirty="0">
                <a:solidFill>
                  <a:srgbClr val="3333B2"/>
                </a:solidFill>
                <a:latin typeface="Arial MT"/>
                <a:cs typeface="Arial MT"/>
                <a:hlinkClick r:id="rId3" action="ppaction://hlinksldjump"/>
              </a:rPr>
              <a:t>Features-</a:t>
            </a:r>
            <a:r>
              <a:rPr sz="1100" spc="-3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(Functionality,</a:t>
            </a:r>
            <a:r>
              <a:rPr sz="1100" spc="-3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details</a:t>
            </a:r>
            <a:r>
              <a:rPr sz="1100" spc="-3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of</a:t>
            </a:r>
            <a:r>
              <a:rPr sz="1100" spc="-2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Algorithm)</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Use</a:t>
            </a:r>
            <a:r>
              <a:rPr sz="1100" spc="-4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Case</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Diagram/</a:t>
            </a:r>
            <a:r>
              <a:rPr sz="1100" spc="-40" dirty="0">
                <a:solidFill>
                  <a:srgbClr val="3333B2"/>
                </a:solidFill>
                <a:latin typeface="Arial MT"/>
                <a:cs typeface="Arial MT"/>
                <a:hlinkClick r:id="rId3" action="ppaction://hlinksldjump"/>
              </a:rPr>
              <a:t> </a:t>
            </a:r>
            <a:r>
              <a:rPr sz="1100" spc="-25" dirty="0">
                <a:solidFill>
                  <a:srgbClr val="3333B2"/>
                </a:solidFill>
                <a:latin typeface="Arial MT"/>
                <a:cs typeface="Arial MT"/>
                <a:hlinkClick r:id="rId3" action="ppaction://hlinksldjump"/>
              </a:rPr>
              <a:t>DFD</a:t>
            </a:r>
            <a:endParaRPr sz="1100">
              <a:latin typeface="Arial MT"/>
              <a:cs typeface="Arial MT"/>
            </a:endParaRPr>
          </a:p>
          <a:p>
            <a:pPr marL="12700" marR="1459230" algn="just">
              <a:lnSpc>
                <a:spcPct val="110200"/>
              </a:lnSpc>
            </a:pPr>
            <a:r>
              <a:rPr sz="1100" dirty="0">
                <a:solidFill>
                  <a:srgbClr val="3333B2"/>
                </a:solidFill>
                <a:latin typeface="Arial MT"/>
                <a:cs typeface="Arial MT"/>
                <a:hlinkClick r:id="rId3" action="ppaction://hlinksldjump"/>
              </a:rPr>
              <a:t>Class</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Diagram/</a:t>
            </a:r>
            <a:r>
              <a:rPr sz="1100" spc="-40" dirty="0">
                <a:solidFill>
                  <a:srgbClr val="3333B2"/>
                </a:solidFill>
                <a:latin typeface="Arial MT"/>
                <a:cs typeface="Arial MT"/>
                <a:hlinkClick r:id="rId3" action="ppaction://hlinksldjump"/>
              </a:rPr>
              <a:t> </a:t>
            </a:r>
            <a:r>
              <a:rPr sz="1100" spc="-25" dirty="0">
                <a:solidFill>
                  <a:srgbClr val="3333B2"/>
                </a:solidFill>
                <a:latin typeface="Arial MT"/>
                <a:cs typeface="Arial MT"/>
                <a:hlinkClick r:id="rId3" action="ppaction://hlinksldjump"/>
              </a:rPr>
              <a:t>DFD</a:t>
            </a:r>
            <a:r>
              <a:rPr sz="1100" spc="-25" dirty="0">
                <a:solidFill>
                  <a:srgbClr val="3333B2"/>
                </a:solidFill>
                <a:latin typeface="Arial MT"/>
                <a:cs typeface="Arial MT"/>
              </a:rPr>
              <a:t> </a:t>
            </a:r>
            <a:r>
              <a:rPr sz="1100" dirty="0">
                <a:solidFill>
                  <a:srgbClr val="3333B2"/>
                </a:solidFill>
                <a:latin typeface="Arial MT"/>
                <a:cs typeface="Arial MT"/>
                <a:hlinkClick r:id="rId3" action="ppaction://hlinksldjump"/>
              </a:rPr>
              <a:t>System</a:t>
            </a:r>
            <a:r>
              <a:rPr sz="1100" spc="-4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Specification</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Data</a:t>
            </a:r>
            <a:r>
              <a:rPr sz="1100" spc="-30" dirty="0">
                <a:solidFill>
                  <a:srgbClr val="3333B2"/>
                </a:solidFill>
                <a:latin typeface="Arial MT"/>
                <a:cs typeface="Arial MT"/>
                <a:hlinkClick r:id="rId3" action="ppaction://hlinksldjump"/>
              </a:rPr>
              <a:t> </a:t>
            </a:r>
            <a:r>
              <a:rPr sz="1100" spc="-20" dirty="0">
                <a:solidFill>
                  <a:srgbClr val="3333B2"/>
                </a:solidFill>
                <a:latin typeface="Arial MT"/>
                <a:cs typeface="Arial MT"/>
                <a:hlinkClick r:id="rId3" action="ppaction://hlinksldjump"/>
              </a:rPr>
              <a:t>Sets</a:t>
            </a:r>
            <a:endParaRPr sz="1100">
              <a:latin typeface="Arial MT"/>
              <a:cs typeface="Arial MT"/>
            </a:endParaRPr>
          </a:p>
          <a:p>
            <a:pPr marL="12700" marR="1666875">
              <a:lnSpc>
                <a:spcPct val="110200"/>
              </a:lnSpc>
            </a:pPr>
            <a:r>
              <a:rPr sz="1100" dirty="0">
                <a:solidFill>
                  <a:srgbClr val="3333B2"/>
                </a:solidFill>
                <a:latin typeface="Arial MT"/>
                <a:cs typeface="Arial MT"/>
                <a:hlinkClick r:id="rId3" action="ppaction://hlinksldjump"/>
              </a:rPr>
              <a:t>Expected</a:t>
            </a:r>
            <a:r>
              <a:rPr sz="1100" spc="-5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Results</a:t>
            </a:r>
            <a:r>
              <a:rPr sz="1100" spc="-10" dirty="0">
                <a:solidFill>
                  <a:srgbClr val="3333B2"/>
                </a:solidFill>
                <a:latin typeface="Arial MT"/>
                <a:cs typeface="Arial MT"/>
              </a:rPr>
              <a:t> </a:t>
            </a:r>
            <a:r>
              <a:rPr sz="1100" spc="-10" dirty="0">
                <a:solidFill>
                  <a:srgbClr val="3333B2"/>
                </a:solidFill>
                <a:latin typeface="Arial MT"/>
                <a:cs typeface="Arial MT"/>
                <a:hlinkClick r:id="rId3" action="ppaction://hlinksldjump"/>
              </a:rPr>
              <a:t>Conclusion</a:t>
            </a:r>
            <a:r>
              <a:rPr sz="1100" spc="500" dirty="0">
                <a:solidFill>
                  <a:srgbClr val="3333B2"/>
                </a:solidFill>
                <a:latin typeface="Arial MT"/>
                <a:cs typeface="Arial MT"/>
              </a:rPr>
              <a:t> </a:t>
            </a:r>
            <a:r>
              <a:rPr sz="1100" spc="-10" dirty="0">
                <a:solidFill>
                  <a:srgbClr val="3333B2"/>
                </a:solidFill>
                <a:latin typeface="Arial MT"/>
                <a:cs typeface="Arial MT"/>
                <a:hlinkClick r:id="rId3" action="ppaction://hlinksldjump"/>
              </a:rPr>
              <a:t>Paper</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Published</a:t>
            </a:r>
            <a:r>
              <a:rPr sz="1100" spc="-10" dirty="0">
                <a:solidFill>
                  <a:srgbClr val="3333B2"/>
                </a:solidFill>
                <a:latin typeface="Arial MT"/>
                <a:cs typeface="Arial MT"/>
              </a:rPr>
              <a:t> </a:t>
            </a:r>
            <a:r>
              <a:rPr sz="1100" spc="-10" dirty="0">
                <a:solidFill>
                  <a:srgbClr val="3333B2"/>
                </a:solidFill>
                <a:latin typeface="Arial MT"/>
                <a:cs typeface="Arial MT"/>
                <a:hlinkClick r:id="rId3" action="ppaction://hlinksldjump"/>
              </a:rPr>
              <a:t>References</a:t>
            </a:r>
            <a:endParaRPr sz="1100">
              <a:latin typeface="Arial MT"/>
              <a:cs typeface="Arial MT"/>
            </a:endParaRPr>
          </a:p>
        </p:txBody>
      </p:sp>
      <p:sp>
        <p:nvSpPr>
          <p:cNvPr id="6" name="object 6"/>
          <p:cNvSpPr txBox="1"/>
          <p:nvPr/>
        </p:nvSpPr>
        <p:spPr>
          <a:xfrm>
            <a:off x="105803" y="291986"/>
            <a:ext cx="200025" cy="2991485"/>
          </a:xfrm>
          <a:prstGeom prst="rect">
            <a:avLst/>
          </a:prstGeom>
        </p:spPr>
        <p:txBody>
          <a:bodyPr vert="horz" wrap="square" lIns="0" tIns="75565" rIns="0" bIns="0" rtlCol="0">
            <a:spAutoFit/>
          </a:bodyPr>
          <a:lstStyle/>
          <a:p>
            <a:pPr marL="40640">
              <a:lnSpc>
                <a:spcPct val="100000"/>
              </a:lnSpc>
              <a:spcBef>
                <a:spcPts val="595"/>
              </a:spcBef>
            </a:pPr>
            <a:r>
              <a:rPr sz="800" spc="-50" dirty="0">
                <a:solidFill>
                  <a:srgbClr val="EAEAF7"/>
                </a:solidFill>
                <a:latin typeface="Arial MT"/>
                <a:cs typeface="Arial MT"/>
              </a:rPr>
              <a:t>1</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2</a:t>
            </a:r>
            <a:endParaRPr sz="800" dirty="0">
              <a:latin typeface="Arial MT"/>
              <a:cs typeface="Arial MT"/>
            </a:endParaRPr>
          </a:p>
          <a:p>
            <a:pPr marL="40640">
              <a:lnSpc>
                <a:spcPct val="100000"/>
              </a:lnSpc>
              <a:spcBef>
                <a:spcPts val="484"/>
              </a:spcBef>
            </a:pPr>
            <a:r>
              <a:rPr sz="800" spc="-50" dirty="0">
                <a:solidFill>
                  <a:srgbClr val="EAEAF7"/>
                </a:solidFill>
                <a:latin typeface="Arial MT"/>
                <a:cs typeface="Arial MT"/>
              </a:rPr>
              <a:t>3</a:t>
            </a:r>
            <a:endParaRPr sz="800" dirty="0">
              <a:latin typeface="Arial MT"/>
              <a:cs typeface="Arial MT"/>
            </a:endParaRPr>
          </a:p>
          <a:p>
            <a:pPr marL="40640">
              <a:lnSpc>
                <a:spcPct val="100000"/>
              </a:lnSpc>
              <a:spcBef>
                <a:spcPts val="500"/>
              </a:spcBef>
            </a:pPr>
            <a:r>
              <a:rPr sz="800" spc="-50" dirty="0">
                <a:solidFill>
                  <a:srgbClr val="EAEAF7"/>
                </a:solidFill>
                <a:latin typeface="Arial MT"/>
                <a:cs typeface="Arial MT"/>
              </a:rPr>
              <a:t>4</a:t>
            </a:r>
            <a:endParaRPr sz="800" dirty="0">
              <a:latin typeface="Arial MT"/>
              <a:cs typeface="Arial MT"/>
            </a:endParaRPr>
          </a:p>
          <a:p>
            <a:pPr marL="40640">
              <a:lnSpc>
                <a:spcPct val="100000"/>
              </a:lnSpc>
              <a:spcBef>
                <a:spcPts val="484"/>
              </a:spcBef>
            </a:pPr>
            <a:r>
              <a:rPr sz="800" spc="-50" dirty="0">
                <a:solidFill>
                  <a:srgbClr val="EAEAF7"/>
                </a:solidFill>
                <a:latin typeface="Arial MT"/>
                <a:cs typeface="Arial MT"/>
              </a:rPr>
              <a:t>5</a:t>
            </a:r>
            <a:endParaRPr sz="800" dirty="0">
              <a:latin typeface="Arial MT"/>
              <a:cs typeface="Arial MT"/>
            </a:endParaRPr>
          </a:p>
          <a:p>
            <a:pPr marL="40640">
              <a:lnSpc>
                <a:spcPct val="100000"/>
              </a:lnSpc>
              <a:spcBef>
                <a:spcPts val="500"/>
              </a:spcBef>
            </a:pPr>
            <a:r>
              <a:rPr sz="800" spc="-50" dirty="0">
                <a:solidFill>
                  <a:srgbClr val="EAEAF7"/>
                </a:solidFill>
                <a:latin typeface="Arial MT"/>
                <a:cs typeface="Arial MT"/>
              </a:rPr>
              <a:t>6</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7</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8</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9</a:t>
            </a:r>
            <a:endParaRPr sz="800" dirty="0">
              <a:latin typeface="Arial MT"/>
              <a:cs typeface="Arial MT"/>
            </a:endParaRPr>
          </a:p>
          <a:p>
            <a:pPr marL="12700">
              <a:lnSpc>
                <a:spcPct val="100000"/>
              </a:lnSpc>
              <a:spcBef>
                <a:spcPts val="495"/>
              </a:spcBef>
            </a:pPr>
            <a:r>
              <a:rPr sz="800" spc="-25" dirty="0">
                <a:solidFill>
                  <a:srgbClr val="EAEAF7"/>
                </a:solidFill>
                <a:latin typeface="Arial MT"/>
                <a:cs typeface="Arial MT"/>
              </a:rPr>
              <a:t>10</a:t>
            </a:r>
            <a:endParaRPr sz="800" dirty="0">
              <a:latin typeface="Arial MT"/>
              <a:cs typeface="Arial MT"/>
            </a:endParaRPr>
          </a:p>
          <a:p>
            <a:pPr marL="12700">
              <a:lnSpc>
                <a:spcPct val="100000"/>
              </a:lnSpc>
              <a:spcBef>
                <a:spcPts val="500"/>
              </a:spcBef>
            </a:pPr>
            <a:r>
              <a:rPr sz="800" spc="-25" dirty="0">
                <a:solidFill>
                  <a:srgbClr val="EAEAF7"/>
                </a:solidFill>
                <a:latin typeface="Arial MT"/>
                <a:cs typeface="Arial MT"/>
              </a:rPr>
              <a:t>11</a:t>
            </a:r>
            <a:endParaRPr sz="800" dirty="0">
              <a:latin typeface="Arial MT"/>
              <a:cs typeface="Arial MT"/>
            </a:endParaRPr>
          </a:p>
          <a:p>
            <a:pPr marL="12700">
              <a:lnSpc>
                <a:spcPct val="100000"/>
              </a:lnSpc>
              <a:spcBef>
                <a:spcPts val="495"/>
              </a:spcBef>
            </a:pPr>
            <a:r>
              <a:rPr sz="800" spc="-25" dirty="0">
                <a:solidFill>
                  <a:srgbClr val="EAEAF7"/>
                </a:solidFill>
                <a:latin typeface="Arial MT"/>
                <a:cs typeface="Arial MT"/>
              </a:rPr>
              <a:t>12</a:t>
            </a:r>
            <a:endParaRPr sz="800" dirty="0">
              <a:latin typeface="Arial MT"/>
              <a:cs typeface="Arial MT"/>
            </a:endParaRPr>
          </a:p>
          <a:p>
            <a:pPr marL="12700">
              <a:lnSpc>
                <a:spcPct val="100000"/>
              </a:lnSpc>
              <a:spcBef>
                <a:spcPts val="484"/>
              </a:spcBef>
            </a:pPr>
            <a:r>
              <a:rPr sz="800" spc="-25" dirty="0">
                <a:solidFill>
                  <a:srgbClr val="EAEAF7"/>
                </a:solidFill>
                <a:latin typeface="Arial MT"/>
                <a:cs typeface="Arial MT"/>
              </a:rPr>
              <a:t>13</a:t>
            </a:r>
            <a:endParaRPr sz="800" dirty="0">
              <a:latin typeface="Arial MT"/>
              <a:cs typeface="Arial MT"/>
            </a:endParaRPr>
          </a:p>
          <a:p>
            <a:pPr marL="12700">
              <a:lnSpc>
                <a:spcPct val="100000"/>
              </a:lnSpc>
              <a:spcBef>
                <a:spcPts val="500"/>
              </a:spcBef>
            </a:pPr>
            <a:r>
              <a:rPr sz="800" spc="-25" dirty="0">
                <a:solidFill>
                  <a:srgbClr val="EAEAF7"/>
                </a:solidFill>
                <a:latin typeface="Arial MT"/>
                <a:cs typeface="Arial MT"/>
              </a:rPr>
              <a:t>14</a:t>
            </a:r>
            <a:endParaRPr sz="800" dirty="0">
              <a:latin typeface="Arial MT"/>
              <a:cs typeface="Arial MT"/>
            </a:endParaRPr>
          </a:p>
          <a:p>
            <a:pPr marL="12700">
              <a:lnSpc>
                <a:spcPct val="100000"/>
              </a:lnSpc>
              <a:spcBef>
                <a:spcPts val="490"/>
              </a:spcBef>
            </a:pPr>
            <a:r>
              <a:rPr sz="800" spc="-25" dirty="0">
                <a:solidFill>
                  <a:srgbClr val="EAEAF7"/>
                </a:solidFill>
                <a:latin typeface="Arial MT"/>
                <a:cs typeface="Arial MT"/>
              </a:rPr>
              <a:t>15</a:t>
            </a:r>
            <a:endParaRPr sz="800" dirty="0">
              <a:latin typeface="Arial MT"/>
              <a:cs typeface="Arial MT"/>
            </a:endParaRPr>
          </a:p>
          <a:p>
            <a:pPr marL="32384">
              <a:lnSpc>
                <a:spcPct val="100000"/>
              </a:lnSpc>
              <a:spcBef>
                <a:spcPts val="220"/>
              </a:spcBef>
            </a:pPr>
            <a:endParaRPr sz="1100" dirty="0">
              <a:latin typeface="Arial MT"/>
              <a:cs typeface="Arial MT"/>
            </a:endParaRPr>
          </a:p>
        </p:txBody>
      </p:sp>
      <p:grpSp>
        <p:nvGrpSpPr>
          <p:cNvPr id="7" name="object 7"/>
          <p:cNvGrpSpPr/>
          <p:nvPr/>
        </p:nvGrpSpPr>
        <p:grpSpPr>
          <a:xfrm>
            <a:off x="0" y="3326968"/>
            <a:ext cx="4608195" cy="129539"/>
            <a:chOff x="0" y="3326968"/>
            <a:chExt cx="4608195" cy="129539"/>
          </a:xfrm>
        </p:grpSpPr>
        <p:sp>
          <p:nvSpPr>
            <p:cNvPr id="8" name="object 8"/>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9" name="object 9"/>
            <p:cNvSpPr/>
            <p:nvPr/>
          </p:nvSpPr>
          <p:spPr>
            <a:xfrm>
              <a:off x="1535976"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262685"/>
            </a:solidFill>
          </p:spPr>
          <p:txBody>
            <a:bodyPr wrap="square" lIns="0" tIns="0" rIns="0" bIns="0" rtlCol="0"/>
            <a:lstStyle/>
            <a:p>
              <a:endParaRPr/>
            </a:p>
          </p:txBody>
        </p:sp>
        <p:sp>
          <p:nvSpPr>
            <p:cNvPr id="10" name="object 10"/>
            <p:cNvSpPr/>
            <p:nvPr/>
          </p:nvSpPr>
          <p:spPr>
            <a:xfrm>
              <a:off x="3071952"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2" name="object 12"/>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3" name="object 13"/>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4" name="object 14"/>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97790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Arial MT"/>
                <a:cs typeface="Arial MT"/>
              </a:rPr>
              <a:t>Introduction</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3</a:t>
            </a:fld>
            <a:r>
              <a:rPr spc="-70" dirty="0"/>
              <a:t> </a:t>
            </a:r>
            <a:r>
              <a:rPr dirty="0"/>
              <a:t>/</a:t>
            </a:r>
            <a:r>
              <a:rPr spc="-65" dirty="0"/>
              <a:t> </a:t>
            </a:r>
            <a:r>
              <a:rPr lang="en-IN" spc="-25" dirty="0"/>
              <a:t>24</a:t>
            </a:r>
            <a:endParaRPr spc="-25" dirty="0"/>
          </a:p>
        </p:txBody>
      </p:sp>
      <p:sp>
        <p:nvSpPr>
          <p:cNvPr id="12" name="TextBox 11">
            <a:extLst>
              <a:ext uri="{FF2B5EF4-FFF2-40B4-BE49-F238E27FC236}">
                <a16:creationId xmlns:a16="http://schemas.microsoft.com/office/drawing/2014/main" id="{A1B78F54-C7BA-BFA9-43B3-2F902F117556}"/>
              </a:ext>
            </a:extLst>
          </p:cNvPr>
          <p:cNvSpPr txBox="1"/>
          <p:nvPr/>
        </p:nvSpPr>
        <p:spPr>
          <a:xfrm>
            <a:off x="-1" y="511175"/>
            <a:ext cx="4608017" cy="1785104"/>
          </a:xfrm>
          <a:prstGeom prst="rect">
            <a:avLst/>
          </a:prstGeom>
          <a:noFill/>
        </p:spPr>
        <p:txBody>
          <a:bodyPr wrap="square" rtlCol="0">
            <a:spAutoFit/>
          </a:bodyPr>
          <a:lstStyle/>
          <a:p>
            <a:pPr algn="just"/>
            <a:r>
              <a:rPr lang="en-US" sz="1100" dirty="0">
                <a:latin typeface="Arial" panose="020B0604020202020204" pitchFamily="34" charset="0"/>
                <a:cs typeface="Arial" panose="020B0604020202020204" pitchFamily="34" charset="0"/>
              </a:rPr>
              <a:t>The "MindTrace" project is a smart system designed to monitor your productivity by understanding your emotions. While most productivity tools only track how much time you spend working, MindTrace uses your webcam to see if you're feeling happy, sad, or tired. It uses ML algorithms to analyze your facial expressions in real-time. The main goal is to help you understand your work habits better, prevent burnout by suggesting breaks when you seem fatigued, and ultimately promote a healthier and more engaged way of working.</a:t>
            </a:r>
            <a:endParaRPr lang="en-IN" sz="1100" dirty="0">
              <a:latin typeface="Arial" panose="020B0604020202020204" pitchFamily="34" charset="0"/>
              <a:cs typeface="Arial" panose="020B0604020202020204" pitchFamily="34" charset="0"/>
            </a:endParaRPr>
          </a:p>
          <a:p>
            <a:pPr algn="just"/>
            <a:br>
              <a:rPr lang="en-IN" sz="1100" dirty="0">
                <a:latin typeface="Arial" panose="020B0604020202020204" pitchFamily="34" charset="0"/>
                <a:cs typeface="Arial" panose="020B0604020202020204" pitchFamily="34" charset="0"/>
              </a:rPr>
            </a:br>
            <a:endParaRPr lang="en-IN" sz="1100" dirty="0">
              <a:latin typeface="Arial" panose="020B0604020202020204" pitchFamily="34" charset="0"/>
              <a:cs typeface="Arial" panose="020B0604020202020204" pitchFamily="34" charset="0"/>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45565"/>
            <a:ext cx="1752550" cy="448200"/>
          </a:xfrm>
          <a:prstGeom prst="rect">
            <a:avLst/>
          </a:prstGeom>
        </p:spPr>
        <p:txBody>
          <a:bodyPr vert="horz" wrap="square" lIns="0" tIns="17145" rIns="0" bIns="0" rtlCol="0">
            <a:spAutoFit/>
          </a:bodyPr>
          <a:lstStyle/>
          <a:p>
            <a:pPr marL="12700">
              <a:spcBef>
                <a:spcPts val="135"/>
              </a:spcBef>
            </a:pPr>
            <a:r>
              <a:rPr lang="en-IN" dirty="0">
                <a:solidFill>
                  <a:srgbClr val="FFFFFF"/>
                </a:solidFill>
              </a:rPr>
              <a:t>Literature</a:t>
            </a:r>
            <a:r>
              <a:rPr lang="en-IN" spc="105" dirty="0">
                <a:solidFill>
                  <a:srgbClr val="FFFFFF"/>
                </a:solidFill>
              </a:rPr>
              <a:t> </a:t>
            </a:r>
            <a:r>
              <a:rPr lang="en-IN" spc="-10" dirty="0">
                <a:solidFill>
                  <a:srgbClr val="FFFFFF"/>
                </a:solidFill>
              </a:rPr>
              <a:t>Survey(1/2)</a:t>
            </a:r>
            <a:br>
              <a:rPr lang="en-IN" dirty="0"/>
            </a:br>
            <a:endParaRPr spc="-10" dirty="0"/>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4</a:t>
            </a:fld>
            <a:r>
              <a:rPr spc="-70" dirty="0"/>
              <a:t> </a:t>
            </a:r>
            <a:r>
              <a:rPr dirty="0"/>
              <a:t>/</a:t>
            </a:r>
            <a:r>
              <a:rPr spc="-65" dirty="0"/>
              <a:t> </a:t>
            </a:r>
            <a:r>
              <a:rPr lang="en-IN" spc="-25" dirty="0"/>
              <a:t>24</a:t>
            </a:r>
            <a:endParaRPr spc="-25" dirty="0"/>
          </a:p>
        </p:txBody>
      </p:sp>
      <p:graphicFrame>
        <p:nvGraphicFramePr>
          <p:cNvPr id="12" name="Table 11">
            <a:extLst>
              <a:ext uri="{FF2B5EF4-FFF2-40B4-BE49-F238E27FC236}">
                <a16:creationId xmlns:a16="http://schemas.microsoft.com/office/drawing/2014/main" id="{17F209E9-71C1-190D-DD67-954A2D23D6EF}"/>
              </a:ext>
            </a:extLst>
          </p:cNvPr>
          <p:cNvGraphicFramePr>
            <a:graphicFrameLocks noGrp="1"/>
          </p:cNvGraphicFramePr>
          <p:nvPr>
            <p:extLst>
              <p:ext uri="{D42A27DB-BD31-4B8C-83A1-F6EECF244321}">
                <p14:modId xmlns:p14="http://schemas.microsoft.com/office/powerpoint/2010/main" val="1836315777"/>
              </p:ext>
            </p:extLst>
          </p:nvPr>
        </p:nvGraphicFramePr>
        <p:xfrm>
          <a:off x="80727" y="502432"/>
          <a:ext cx="4446561" cy="2206509"/>
        </p:xfrm>
        <a:graphic>
          <a:graphicData uri="http://schemas.openxmlformats.org/drawingml/2006/table">
            <a:tbl>
              <a:tblPr firstRow="1" firstCol="1" bandRow="1">
                <a:tableStyleId>{B301B821-A1FF-4177-AEE7-76D212191A09}</a:tableStyleId>
              </a:tblPr>
              <a:tblGrid>
                <a:gridCol w="907588">
                  <a:extLst>
                    <a:ext uri="{9D8B030D-6E8A-4147-A177-3AD203B41FA5}">
                      <a16:colId xmlns:a16="http://schemas.microsoft.com/office/drawing/2014/main" val="1820335664"/>
                    </a:ext>
                  </a:extLst>
                </a:gridCol>
                <a:gridCol w="1237868">
                  <a:extLst>
                    <a:ext uri="{9D8B030D-6E8A-4147-A177-3AD203B41FA5}">
                      <a16:colId xmlns:a16="http://schemas.microsoft.com/office/drawing/2014/main" val="1078436703"/>
                    </a:ext>
                  </a:extLst>
                </a:gridCol>
                <a:gridCol w="1025745">
                  <a:extLst>
                    <a:ext uri="{9D8B030D-6E8A-4147-A177-3AD203B41FA5}">
                      <a16:colId xmlns:a16="http://schemas.microsoft.com/office/drawing/2014/main" val="3543434929"/>
                    </a:ext>
                  </a:extLst>
                </a:gridCol>
                <a:gridCol w="1275360">
                  <a:extLst>
                    <a:ext uri="{9D8B030D-6E8A-4147-A177-3AD203B41FA5}">
                      <a16:colId xmlns:a16="http://schemas.microsoft.com/office/drawing/2014/main" val="319997749"/>
                    </a:ext>
                  </a:extLst>
                </a:gridCol>
              </a:tblGrid>
              <a:tr h="253571">
                <a:tc>
                  <a:txBody>
                    <a:bodyPr/>
                    <a:lstStyle/>
                    <a:p>
                      <a:pPr algn="just">
                        <a:buNone/>
                      </a:pPr>
                      <a:r>
                        <a:rPr lang="en-US" sz="800" dirty="0">
                          <a:effectLst/>
                          <a:latin typeface="Arial MT"/>
                          <a:cs typeface="Times New Roman" panose="02020603050405020304" pitchFamily="18" charset="0"/>
                        </a:rPr>
                        <a:t>Project Module</a:t>
                      </a:r>
                      <a:endParaRPr lang="en-IN" sz="800" dirty="0">
                        <a:effectLst/>
                        <a:latin typeface="Arial MT"/>
                        <a:cs typeface="Times New Roman" panose="02020603050405020304" pitchFamily="18" charset="0"/>
                      </a:endParaRPr>
                    </a:p>
                    <a:p>
                      <a:pPr algn="just">
                        <a:lnSpc>
                          <a:spcPct val="106000"/>
                        </a:lnSpc>
                        <a:buNone/>
                      </a:pPr>
                      <a:r>
                        <a:rPr lang="en-US" sz="800" dirty="0">
                          <a:effectLst/>
                          <a:latin typeface="Arial MT"/>
                          <a:cs typeface="Times New Roman" panose="02020603050405020304" pitchFamily="18" charset="0"/>
                        </a:rPr>
                        <a:t> </a:t>
                      </a:r>
                      <a:endParaRPr lang="en-IN" sz="800" dirty="0">
                        <a:effectLst/>
                        <a:latin typeface="Arial MT"/>
                        <a:ea typeface="Arial MT"/>
                        <a:cs typeface="Times New Roman" panose="02020603050405020304" pitchFamily="18" charset="0"/>
                      </a:endParaRPr>
                    </a:p>
                  </a:txBody>
                  <a:tcPr marL="57874" marR="57874" marT="0" marB="0"/>
                </a:tc>
                <a:tc>
                  <a:txBody>
                    <a:bodyPr/>
                    <a:lstStyle/>
                    <a:p>
                      <a:pPr algn="just">
                        <a:lnSpc>
                          <a:spcPct val="106000"/>
                        </a:lnSpc>
                        <a:buNone/>
                      </a:pPr>
                      <a:r>
                        <a:rPr lang="en-US" sz="800" dirty="0">
                          <a:effectLst/>
                          <a:latin typeface="Arial MT"/>
                          <a:cs typeface="Times New Roman" panose="02020603050405020304" pitchFamily="18" charset="0"/>
                        </a:rPr>
                        <a:t>Relevant Paper / Source</a:t>
                      </a:r>
                      <a:endParaRPr lang="en-IN" sz="800" dirty="0">
                        <a:effectLst/>
                        <a:latin typeface="Arial MT"/>
                        <a:ea typeface="Arial MT"/>
                        <a:cs typeface="Times New Roman" panose="02020603050405020304" pitchFamily="18" charset="0"/>
                      </a:endParaRPr>
                    </a:p>
                  </a:txBody>
                  <a:tcPr marL="57874" marR="57874" marT="0" marB="0"/>
                </a:tc>
                <a:tc>
                  <a:txBody>
                    <a:bodyPr/>
                    <a:lstStyle/>
                    <a:p>
                      <a:pPr algn="just">
                        <a:lnSpc>
                          <a:spcPct val="106000"/>
                        </a:lnSpc>
                        <a:buNone/>
                      </a:pPr>
                      <a:r>
                        <a:rPr lang="en-US" sz="800" dirty="0">
                          <a:effectLst/>
                          <a:latin typeface="Arial MT"/>
                          <a:cs typeface="Times New Roman" panose="02020603050405020304" pitchFamily="18" charset="0"/>
                        </a:rPr>
                        <a:t>Technology Used</a:t>
                      </a:r>
                      <a:endParaRPr lang="en-IN" sz="800" dirty="0">
                        <a:effectLst/>
                        <a:latin typeface="Arial MT"/>
                        <a:ea typeface="Arial MT"/>
                        <a:cs typeface="Times New Roman" panose="02020603050405020304" pitchFamily="18" charset="0"/>
                      </a:endParaRPr>
                    </a:p>
                  </a:txBody>
                  <a:tcPr marL="57874" marR="57874" marT="0" marB="0"/>
                </a:tc>
                <a:tc>
                  <a:txBody>
                    <a:bodyPr/>
                    <a:lstStyle/>
                    <a:p>
                      <a:pPr algn="just">
                        <a:lnSpc>
                          <a:spcPct val="106000"/>
                        </a:lnSpc>
                        <a:buNone/>
                      </a:pPr>
                      <a:r>
                        <a:rPr lang="en-US" sz="800">
                          <a:effectLst/>
                          <a:latin typeface="Arial MT"/>
                          <a:cs typeface="Times New Roman" panose="02020603050405020304" pitchFamily="18" charset="0"/>
                        </a:rPr>
                        <a:t>Contribution to Project</a:t>
                      </a:r>
                      <a:endParaRPr lang="en-IN" sz="800">
                        <a:effectLst/>
                        <a:latin typeface="Arial MT"/>
                        <a:ea typeface="Arial MT"/>
                        <a:cs typeface="Times New Roman" panose="02020603050405020304" pitchFamily="18" charset="0"/>
                      </a:endParaRPr>
                    </a:p>
                  </a:txBody>
                  <a:tcPr marL="57874" marR="57874" marT="0" marB="0"/>
                </a:tc>
                <a:extLst>
                  <a:ext uri="{0D108BD9-81ED-4DB2-BD59-A6C34878D82A}">
                    <a16:rowId xmlns:a16="http://schemas.microsoft.com/office/drawing/2014/main" val="1123043591"/>
                  </a:ext>
                </a:extLst>
              </a:tr>
              <a:tr h="910751">
                <a:tc>
                  <a:txBody>
                    <a:bodyPr/>
                    <a:lstStyle/>
                    <a:p>
                      <a:pPr algn="just">
                        <a:lnSpc>
                          <a:spcPct val="106000"/>
                        </a:lnSpc>
                        <a:buNone/>
                      </a:pPr>
                      <a:r>
                        <a:rPr lang="en-US" sz="800" b="1" dirty="0">
                          <a:solidFill>
                            <a:schemeClr val="dk1"/>
                          </a:solidFill>
                          <a:effectLst/>
                          <a:latin typeface="Arial MT"/>
                          <a:ea typeface="+mn-ea"/>
                          <a:cs typeface="Times New Roman" panose="02020603050405020304" pitchFamily="18" charset="0"/>
                        </a:rPr>
                        <a:t>Real-time Emotion Recognition &amp; Adaptive Learning</a:t>
                      </a:r>
                      <a:endParaRPr lang="en-IN" sz="800" b="1"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Emotion Recognition for Enhanced Learning</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CNN-based Facial Emotion Recognition, OpenCV, TensorFlow/</a:t>
                      </a:r>
                      <a:r>
                        <a:rPr lang="en-US" sz="800" dirty="0" err="1">
                          <a:solidFill>
                            <a:schemeClr val="dk1"/>
                          </a:solidFill>
                          <a:effectLst/>
                          <a:latin typeface="Arial MT"/>
                          <a:ea typeface="+mn-ea"/>
                          <a:cs typeface="Times New Roman" panose="02020603050405020304" pitchFamily="18" charset="0"/>
                        </a:rPr>
                        <a:t>Keras</a:t>
                      </a:r>
                      <a:r>
                        <a:rPr lang="en-US" sz="800" dirty="0">
                          <a:solidFill>
                            <a:schemeClr val="dk1"/>
                          </a:solidFill>
                          <a:effectLst/>
                          <a:latin typeface="Arial MT"/>
                          <a:ea typeface="+mn-ea"/>
                          <a:cs typeface="Times New Roman" panose="02020603050405020304" pitchFamily="18" charset="0"/>
                        </a:rPr>
                        <a:t>, Real-time webcam processing</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Helps the system detect whether a student is happy, bored, confused, or stressed—allowing dynamic adjustment of learning difficulty, hints, or alerts.</a:t>
                      </a:r>
                      <a:endParaRPr lang="en-IN" sz="800" dirty="0">
                        <a:solidFill>
                          <a:schemeClr val="dk1"/>
                        </a:solidFill>
                        <a:effectLst/>
                        <a:latin typeface="Arial MT"/>
                        <a:ea typeface="+mn-ea"/>
                        <a:cs typeface="Times New Roman" panose="02020603050405020304" pitchFamily="18" charset="0"/>
                      </a:endParaRPr>
                    </a:p>
                  </a:txBody>
                  <a:tcPr marL="57874" marR="57874" marT="0" marB="0"/>
                </a:tc>
                <a:extLst>
                  <a:ext uri="{0D108BD9-81ED-4DB2-BD59-A6C34878D82A}">
                    <a16:rowId xmlns:a16="http://schemas.microsoft.com/office/drawing/2014/main" val="3321072048"/>
                  </a:ext>
                </a:extLst>
              </a:tr>
              <a:tr h="1042187">
                <a:tc>
                  <a:txBody>
                    <a:bodyPr/>
                    <a:lstStyle/>
                    <a:p>
                      <a:pPr marL="0" algn="just">
                        <a:lnSpc>
                          <a:spcPct val="106000"/>
                        </a:lnSpc>
                        <a:buNone/>
                      </a:pPr>
                      <a:r>
                        <a:rPr lang="en-US" sz="800" b="1" dirty="0">
                          <a:solidFill>
                            <a:schemeClr val="dk1"/>
                          </a:solidFill>
                          <a:effectLst/>
                          <a:latin typeface="Arial MT"/>
                          <a:ea typeface="+mn-ea"/>
                          <a:cs typeface="Times New Roman" panose="02020603050405020304" pitchFamily="18" charset="0"/>
                        </a:rPr>
                        <a:t>Emotion Tracking in Live Online Sessions</a:t>
                      </a:r>
                      <a:endParaRPr lang="en-IN" sz="800" b="1"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Facial Expression Recognition for Examining Emotional Regulation in Synchronous Online Collaborative Learning</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FER models (VGG-Face, </a:t>
                      </a:r>
                      <a:r>
                        <a:rPr lang="en-US" sz="800" dirty="0" err="1">
                          <a:solidFill>
                            <a:schemeClr val="dk1"/>
                          </a:solidFill>
                          <a:effectLst/>
                          <a:latin typeface="Arial MT"/>
                          <a:ea typeface="+mn-ea"/>
                          <a:cs typeface="Times New Roman" panose="02020603050405020304" pitchFamily="18" charset="0"/>
                        </a:rPr>
                        <a:t>ResNet</a:t>
                      </a:r>
                      <a:r>
                        <a:rPr lang="en-US" sz="800" dirty="0">
                          <a:solidFill>
                            <a:schemeClr val="dk1"/>
                          </a:solidFill>
                          <a:effectLst/>
                          <a:latin typeface="Arial MT"/>
                          <a:ea typeface="+mn-ea"/>
                          <a:cs typeface="Times New Roman" panose="02020603050405020304" pitchFamily="18" charset="0"/>
                        </a:rPr>
                        <a:t>-based FER), Landmark Detection, Live Video Analytics</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Improves the ability to analyze subtle facial cues during online learning and supports more accurate emotional state classification in group or collaborative settings.</a:t>
                      </a:r>
                      <a:endParaRPr lang="en-IN" sz="800" dirty="0">
                        <a:solidFill>
                          <a:schemeClr val="dk1"/>
                        </a:solidFill>
                        <a:effectLst/>
                        <a:latin typeface="Arial MT"/>
                        <a:ea typeface="+mn-ea"/>
                        <a:cs typeface="Times New Roman" panose="02020603050405020304" pitchFamily="18" charset="0"/>
                      </a:endParaRPr>
                    </a:p>
                  </a:txBody>
                  <a:tcPr marL="57874" marR="57874" marT="0" marB="0"/>
                </a:tc>
                <a:extLst>
                  <a:ext uri="{0D108BD9-81ED-4DB2-BD59-A6C34878D82A}">
                    <a16:rowId xmlns:a16="http://schemas.microsoft.com/office/drawing/2014/main" val="2426162425"/>
                  </a:ext>
                </a:extLst>
              </a:tr>
            </a:tbl>
          </a:graphicData>
        </a:graphic>
      </p:graphicFrame>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D9B2F-B3EC-3C3B-BACE-9AF1E4D81C6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C1A379A-D49E-821E-D685-5E9B6201F850}"/>
              </a:ext>
            </a:extLst>
          </p:cNvPr>
          <p:cNvSpPr txBox="1">
            <a:spLocks noGrp="1"/>
          </p:cNvSpPr>
          <p:nvPr>
            <p:ph type="title"/>
          </p:nvPr>
        </p:nvSpPr>
        <p:spPr>
          <a:xfrm>
            <a:off x="95300" y="45565"/>
            <a:ext cx="1752550" cy="232756"/>
          </a:xfrm>
          <a:prstGeom prst="rect">
            <a:avLst/>
          </a:prstGeom>
        </p:spPr>
        <p:txBody>
          <a:bodyPr vert="horz" wrap="square" lIns="0" tIns="17145" rIns="0" bIns="0" rtlCol="0">
            <a:spAutoFit/>
          </a:bodyPr>
          <a:lstStyle/>
          <a:p>
            <a:pPr marL="12700">
              <a:lnSpc>
                <a:spcPct val="100000"/>
              </a:lnSpc>
              <a:spcBef>
                <a:spcPts val="135"/>
              </a:spcBef>
            </a:pPr>
            <a:r>
              <a:rPr lang="en-IN" dirty="0">
                <a:solidFill>
                  <a:srgbClr val="FFFFFF"/>
                </a:solidFill>
              </a:rPr>
              <a:t>Literature</a:t>
            </a:r>
            <a:r>
              <a:rPr lang="en-IN" spc="105" dirty="0">
                <a:solidFill>
                  <a:srgbClr val="FFFFFF"/>
                </a:solidFill>
              </a:rPr>
              <a:t> </a:t>
            </a:r>
            <a:r>
              <a:rPr lang="en-IN" spc="-10" dirty="0">
                <a:solidFill>
                  <a:srgbClr val="FFFFFF"/>
                </a:solidFill>
              </a:rPr>
              <a:t>Survey(2/2)</a:t>
            </a:r>
            <a:endParaRPr lang="en-IN" dirty="0"/>
          </a:p>
        </p:txBody>
      </p:sp>
      <p:grpSp>
        <p:nvGrpSpPr>
          <p:cNvPr id="4" name="object 4">
            <a:extLst>
              <a:ext uri="{FF2B5EF4-FFF2-40B4-BE49-F238E27FC236}">
                <a16:creationId xmlns:a16="http://schemas.microsoft.com/office/drawing/2014/main" id="{9C91B0EB-0E43-0298-FF1F-7AE0B287786E}"/>
              </a:ext>
            </a:extLst>
          </p:cNvPr>
          <p:cNvGrpSpPr/>
          <p:nvPr/>
        </p:nvGrpSpPr>
        <p:grpSpPr>
          <a:xfrm>
            <a:off x="0" y="3326968"/>
            <a:ext cx="4608195" cy="129539"/>
            <a:chOff x="0" y="3326968"/>
            <a:chExt cx="4608195" cy="129539"/>
          </a:xfrm>
        </p:grpSpPr>
        <p:sp>
          <p:nvSpPr>
            <p:cNvPr id="5" name="object 5">
              <a:extLst>
                <a:ext uri="{FF2B5EF4-FFF2-40B4-BE49-F238E27FC236}">
                  <a16:creationId xmlns:a16="http://schemas.microsoft.com/office/drawing/2014/main" id="{C89F5F55-7F9B-B618-3192-F92F59E9BED4}"/>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a:extLst>
                <a:ext uri="{FF2B5EF4-FFF2-40B4-BE49-F238E27FC236}">
                  <a16:creationId xmlns:a16="http://schemas.microsoft.com/office/drawing/2014/main" id="{5B0204AB-D482-23F6-6B74-0C110572FA27}"/>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a:extLst>
                <a:ext uri="{FF2B5EF4-FFF2-40B4-BE49-F238E27FC236}">
                  <a16:creationId xmlns:a16="http://schemas.microsoft.com/office/drawing/2014/main" id="{3BD0A777-88A3-6320-7FFA-5A159868E49D}"/>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a:extLst>
              <a:ext uri="{FF2B5EF4-FFF2-40B4-BE49-F238E27FC236}">
                <a16:creationId xmlns:a16="http://schemas.microsoft.com/office/drawing/2014/main" id="{4773C1C3-CB2E-6DE2-3BDD-77B490302CC6}"/>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a:extLst>
              <a:ext uri="{FF2B5EF4-FFF2-40B4-BE49-F238E27FC236}">
                <a16:creationId xmlns:a16="http://schemas.microsoft.com/office/drawing/2014/main" id="{22F90A05-F281-D798-1D50-3240BB559179}"/>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a:extLst>
              <a:ext uri="{FF2B5EF4-FFF2-40B4-BE49-F238E27FC236}">
                <a16:creationId xmlns:a16="http://schemas.microsoft.com/office/drawing/2014/main" id="{468BBED5-8F6B-8429-9823-34A0DE6CB535}"/>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a:extLst>
              <a:ext uri="{FF2B5EF4-FFF2-40B4-BE49-F238E27FC236}">
                <a16:creationId xmlns:a16="http://schemas.microsoft.com/office/drawing/2014/main" id="{2B07C066-C7A1-F88F-D67B-E297646DDD1A}"/>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5</a:t>
            </a:fld>
            <a:r>
              <a:rPr spc="-70" dirty="0"/>
              <a:t> </a:t>
            </a:r>
            <a:r>
              <a:rPr dirty="0"/>
              <a:t>/</a:t>
            </a:r>
            <a:r>
              <a:rPr spc="-65" dirty="0"/>
              <a:t> </a:t>
            </a:r>
            <a:r>
              <a:rPr lang="en-IN" spc="-25" dirty="0"/>
              <a:t>24</a:t>
            </a:r>
            <a:endParaRPr spc="-25" dirty="0"/>
          </a:p>
        </p:txBody>
      </p:sp>
      <p:graphicFrame>
        <p:nvGraphicFramePr>
          <p:cNvPr id="3" name="Table 2">
            <a:extLst>
              <a:ext uri="{FF2B5EF4-FFF2-40B4-BE49-F238E27FC236}">
                <a16:creationId xmlns:a16="http://schemas.microsoft.com/office/drawing/2014/main" id="{2A2BD820-A65B-CF19-198F-D2DAB7558351}"/>
              </a:ext>
            </a:extLst>
          </p:cNvPr>
          <p:cNvGraphicFramePr>
            <a:graphicFrameLocks noGrp="1"/>
          </p:cNvGraphicFramePr>
          <p:nvPr>
            <p:extLst>
              <p:ext uri="{D42A27DB-BD31-4B8C-83A1-F6EECF244321}">
                <p14:modId xmlns:p14="http://schemas.microsoft.com/office/powerpoint/2010/main" val="2409368439"/>
              </p:ext>
            </p:extLst>
          </p:nvPr>
        </p:nvGraphicFramePr>
        <p:xfrm>
          <a:off x="125164" y="588383"/>
          <a:ext cx="4357688" cy="2457650"/>
        </p:xfrm>
        <a:graphic>
          <a:graphicData uri="http://schemas.openxmlformats.org/drawingml/2006/table">
            <a:tbl>
              <a:tblPr firstRow="1" firstCol="1" bandRow="1">
                <a:tableStyleId>{B301B821-A1FF-4177-AEE7-76D212191A09}</a:tableStyleId>
              </a:tblPr>
              <a:tblGrid>
                <a:gridCol w="1090517">
                  <a:extLst>
                    <a:ext uri="{9D8B030D-6E8A-4147-A177-3AD203B41FA5}">
                      <a16:colId xmlns:a16="http://schemas.microsoft.com/office/drawing/2014/main" val="753533838"/>
                    </a:ext>
                  </a:extLst>
                </a:gridCol>
                <a:gridCol w="1251936">
                  <a:extLst>
                    <a:ext uri="{9D8B030D-6E8A-4147-A177-3AD203B41FA5}">
                      <a16:colId xmlns:a16="http://schemas.microsoft.com/office/drawing/2014/main" val="2199534548"/>
                    </a:ext>
                  </a:extLst>
                </a:gridCol>
                <a:gridCol w="975396">
                  <a:extLst>
                    <a:ext uri="{9D8B030D-6E8A-4147-A177-3AD203B41FA5}">
                      <a16:colId xmlns:a16="http://schemas.microsoft.com/office/drawing/2014/main" val="1102121093"/>
                    </a:ext>
                  </a:extLst>
                </a:gridCol>
                <a:gridCol w="1039839">
                  <a:extLst>
                    <a:ext uri="{9D8B030D-6E8A-4147-A177-3AD203B41FA5}">
                      <a16:colId xmlns:a16="http://schemas.microsoft.com/office/drawing/2014/main" val="4201337683"/>
                    </a:ext>
                  </a:extLst>
                </a:gridCol>
              </a:tblGrid>
              <a:tr h="279132">
                <a:tc>
                  <a:txBody>
                    <a:bodyPr/>
                    <a:lstStyle/>
                    <a:p>
                      <a:pPr algn="just">
                        <a:buNone/>
                      </a:pPr>
                      <a:r>
                        <a:rPr lang="en-US" sz="800" dirty="0">
                          <a:effectLst/>
                          <a:latin typeface="Arial MT"/>
                          <a:cs typeface="Times New Roman" panose="02020603050405020304" pitchFamily="18" charset="0"/>
                        </a:rPr>
                        <a:t>Project Module</a:t>
                      </a:r>
                      <a:endParaRPr lang="en-IN" sz="1100" dirty="0">
                        <a:effectLst/>
                        <a:latin typeface="Arial MT"/>
                        <a:ea typeface="Arial MT"/>
                        <a:cs typeface="Times New Roman" panose="02020603050405020304" pitchFamily="18" charset="0"/>
                      </a:endParaRPr>
                    </a:p>
                  </a:txBody>
                  <a:tcPr marL="67571" marR="67571" marT="0" marB="0"/>
                </a:tc>
                <a:tc>
                  <a:txBody>
                    <a:bodyPr/>
                    <a:lstStyle/>
                    <a:p>
                      <a:pPr algn="just">
                        <a:spcBef>
                          <a:spcPts val="535"/>
                        </a:spcBef>
                        <a:buNone/>
                        <a:tabLst>
                          <a:tab pos="114300" algn="l"/>
                        </a:tabLst>
                      </a:pPr>
                      <a:r>
                        <a:rPr lang="en-US" sz="800" dirty="0">
                          <a:effectLst/>
                          <a:latin typeface="Arial MT"/>
                          <a:cs typeface="Times New Roman" panose="02020603050405020304" pitchFamily="18" charset="0"/>
                        </a:rPr>
                        <a:t>Relevant Paper / Source</a:t>
                      </a:r>
                      <a:endParaRPr lang="en-IN" sz="1100" dirty="0">
                        <a:effectLst/>
                        <a:latin typeface="Arial MT"/>
                        <a:ea typeface="Arial MT"/>
                        <a:cs typeface="Times New Roman" panose="02020603050405020304" pitchFamily="18" charset="0"/>
                      </a:endParaRPr>
                    </a:p>
                  </a:txBody>
                  <a:tcPr marL="67571" marR="67571" marT="0" marB="0"/>
                </a:tc>
                <a:tc>
                  <a:txBody>
                    <a:bodyPr/>
                    <a:lstStyle/>
                    <a:p>
                      <a:pPr algn="just">
                        <a:spcBef>
                          <a:spcPts val="535"/>
                        </a:spcBef>
                        <a:buNone/>
                        <a:tabLst>
                          <a:tab pos="114300" algn="l"/>
                        </a:tabLst>
                      </a:pPr>
                      <a:r>
                        <a:rPr lang="en-US" sz="800" dirty="0">
                          <a:effectLst/>
                          <a:latin typeface="Arial MT"/>
                          <a:cs typeface="Times New Roman" panose="02020603050405020304" pitchFamily="18" charset="0"/>
                        </a:rPr>
                        <a:t>Technology Used</a:t>
                      </a:r>
                      <a:endParaRPr lang="en-IN" sz="1100" dirty="0">
                        <a:effectLst/>
                        <a:latin typeface="Arial MT"/>
                        <a:ea typeface="Arial MT"/>
                        <a:cs typeface="Times New Roman" panose="02020603050405020304" pitchFamily="18" charset="0"/>
                      </a:endParaRPr>
                    </a:p>
                  </a:txBody>
                  <a:tcPr marL="67571" marR="67571" marT="0" marB="0"/>
                </a:tc>
                <a:tc>
                  <a:txBody>
                    <a:bodyPr/>
                    <a:lstStyle/>
                    <a:p>
                      <a:pPr algn="just">
                        <a:spcBef>
                          <a:spcPts val="535"/>
                        </a:spcBef>
                        <a:buNone/>
                        <a:tabLst>
                          <a:tab pos="114300" algn="l"/>
                        </a:tabLst>
                      </a:pPr>
                      <a:r>
                        <a:rPr lang="en-US" sz="800" dirty="0">
                          <a:effectLst/>
                          <a:latin typeface="Arial MT"/>
                          <a:cs typeface="Times New Roman" panose="02020603050405020304" pitchFamily="18" charset="0"/>
                        </a:rPr>
                        <a:t>Contribution to Project</a:t>
                      </a:r>
                      <a:endParaRPr lang="en-IN" sz="1100" dirty="0">
                        <a:effectLst/>
                        <a:latin typeface="Arial MT"/>
                        <a:ea typeface="Arial MT"/>
                        <a:cs typeface="Times New Roman" panose="02020603050405020304" pitchFamily="18" charset="0"/>
                      </a:endParaRPr>
                    </a:p>
                  </a:txBody>
                  <a:tcPr marL="67571" marR="67571" marT="0" marB="0"/>
                </a:tc>
                <a:extLst>
                  <a:ext uri="{0D108BD9-81ED-4DB2-BD59-A6C34878D82A}">
                    <a16:rowId xmlns:a16="http://schemas.microsoft.com/office/drawing/2014/main" val="2810524467"/>
                  </a:ext>
                </a:extLst>
              </a:tr>
              <a:tr h="1256880">
                <a:tc>
                  <a:txBody>
                    <a:bodyPr/>
                    <a:lstStyle/>
                    <a:p>
                      <a:pPr algn="just">
                        <a:lnSpc>
                          <a:spcPct val="106000"/>
                        </a:lnSpc>
                        <a:buNone/>
                      </a:pPr>
                      <a:r>
                        <a:rPr lang="en-IN" sz="800" b="1" dirty="0">
                          <a:solidFill>
                            <a:schemeClr val="dk1"/>
                          </a:solidFill>
                          <a:effectLst/>
                          <a:latin typeface="Arial MT"/>
                          <a:ea typeface="+mn-ea"/>
                          <a:cs typeface="Times New Roman" panose="02020603050405020304" pitchFamily="18" charset="0"/>
                        </a:rPr>
                        <a:t>Engagement Detection &amp; Attention Monitoring</a:t>
                      </a:r>
                      <a:r>
                        <a:rPr lang="en-US" sz="800" b="1" dirty="0">
                          <a:solidFill>
                            <a:schemeClr val="dk1"/>
                          </a:solidFill>
                          <a:effectLst/>
                          <a:latin typeface="Arial MT"/>
                          <a:ea typeface="+mn-ea"/>
                          <a:cs typeface="Times New Roman" panose="02020603050405020304" pitchFamily="18" charset="0"/>
                        </a:rPr>
                        <a:t> </a:t>
                      </a:r>
                      <a:endParaRPr lang="en-IN" sz="800" b="1" dirty="0">
                        <a:solidFill>
                          <a:schemeClr val="dk1"/>
                        </a:solidFill>
                        <a:effectLst/>
                        <a:latin typeface="Arial MT"/>
                        <a:ea typeface="+mn-ea"/>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Optimizing Student Engagement Detection using Facial and Behavioral Features </a:t>
                      </a:r>
                      <a:endParaRPr lang="en-IN" sz="800" dirty="0">
                        <a:solidFill>
                          <a:schemeClr val="dk1"/>
                        </a:solidFill>
                        <a:effectLst/>
                        <a:latin typeface="Arial MT"/>
                        <a:ea typeface="+mn-ea"/>
                        <a:cs typeface="Times New Roman" panose="02020603050405020304" pitchFamily="18" charset="0"/>
                      </a:endParaRPr>
                    </a:p>
                    <a:p>
                      <a:pPr algn="just">
                        <a:buNone/>
                      </a:pPr>
                      <a:endParaRPr lang="en-IN" sz="800"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Behavioral tracking (eye gaze, head pose), Action Unit detection, ML models for engagement scoring</a:t>
                      </a:r>
                      <a:endParaRPr lang="en-IN" sz="800" dirty="0">
                        <a:solidFill>
                          <a:schemeClr val="dk1"/>
                        </a:solidFill>
                        <a:effectLst/>
                        <a:latin typeface="Arial MT"/>
                        <a:ea typeface="+mn-ea"/>
                        <a:cs typeface="Times New Roman" panose="02020603050405020304" pitchFamily="18" charset="0"/>
                      </a:endParaRPr>
                    </a:p>
                    <a:p>
                      <a:pPr algn="just">
                        <a:buNone/>
                      </a:pPr>
                      <a:endParaRPr lang="en-IN" sz="800"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Adds non-verbal behavior analysis—eye contact, movement, screen focus—to give more accurate engagement scores rather than relying only on facial expressions.</a:t>
                      </a:r>
                      <a:endParaRPr lang="en-IN" sz="800" dirty="0">
                        <a:solidFill>
                          <a:schemeClr val="dk1"/>
                        </a:solidFill>
                        <a:effectLst/>
                        <a:latin typeface="Arial MT"/>
                        <a:ea typeface="+mn-ea"/>
                        <a:cs typeface="Times New Roman" panose="02020603050405020304" pitchFamily="18" charset="0"/>
                      </a:endParaRPr>
                    </a:p>
                    <a:p>
                      <a:pPr algn="just">
                        <a:buNone/>
                      </a:pPr>
                      <a:endParaRPr lang="en-IN" sz="800" dirty="0">
                        <a:solidFill>
                          <a:schemeClr val="dk1"/>
                        </a:solidFill>
                        <a:effectLst/>
                        <a:latin typeface="Arial MT"/>
                        <a:ea typeface="+mn-ea"/>
                        <a:cs typeface="Times New Roman" panose="02020603050405020304" pitchFamily="18" charset="0"/>
                      </a:endParaRPr>
                    </a:p>
                  </a:txBody>
                  <a:tcPr marL="67571" marR="67571" marT="0" marB="0"/>
                </a:tc>
                <a:extLst>
                  <a:ext uri="{0D108BD9-81ED-4DB2-BD59-A6C34878D82A}">
                    <a16:rowId xmlns:a16="http://schemas.microsoft.com/office/drawing/2014/main" val="1772095797"/>
                  </a:ext>
                </a:extLst>
              </a:tr>
              <a:tr h="837398">
                <a:tc>
                  <a:txBody>
                    <a:bodyPr/>
                    <a:lstStyle/>
                    <a:p>
                      <a:pPr marL="57150" algn="just">
                        <a:buNone/>
                      </a:pPr>
                      <a:r>
                        <a:rPr lang="fr-FR" sz="800" b="1" dirty="0">
                          <a:solidFill>
                            <a:schemeClr val="dk1"/>
                          </a:solidFill>
                          <a:effectLst/>
                          <a:latin typeface="Arial MT"/>
                          <a:ea typeface="+mn-ea"/>
                          <a:cs typeface="Times New Roman" panose="02020603050405020304" pitchFamily="18" charset="0"/>
                        </a:rPr>
                        <a:t>Fatigue &amp; Stress </a:t>
                      </a:r>
                      <a:r>
                        <a:rPr lang="fr-FR" sz="800" b="1" dirty="0" err="1">
                          <a:solidFill>
                            <a:schemeClr val="dk1"/>
                          </a:solidFill>
                          <a:effectLst/>
                          <a:latin typeface="Arial MT"/>
                          <a:ea typeface="+mn-ea"/>
                          <a:cs typeface="Times New Roman" panose="02020603050405020304" pitchFamily="18" charset="0"/>
                        </a:rPr>
                        <a:t>Detection</a:t>
                      </a:r>
                      <a:r>
                        <a:rPr lang="fr-FR" sz="800" b="1" dirty="0">
                          <a:solidFill>
                            <a:schemeClr val="dk1"/>
                          </a:solidFill>
                          <a:effectLst/>
                          <a:latin typeface="Arial MT"/>
                          <a:ea typeface="+mn-ea"/>
                          <a:cs typeface="Times New Roman" panose="02020603050405020304" pitchFamily="18" charset="0"/>
                        </a:rPr>
                        <a:t> (Cross-Domain Inspiration)</a:t>
                      </a:r>
                      <a:endParaRPr lang="en-IN" sz="800" b="1"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Advancements in Driver Fatigue Detection – Springer, 2024 (Li)</a:t>
                      </a: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Drowsiness detection, blink rate, PERCLOS, deep learning fatigue classifiers</a:t>
                      </a:r>
                      <a:endParaRPr lang="en-IN" sz="800"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Provided insights into scalability and guided future integration of multimodal emotion and fatigue inputs.</a:t>
                      </a:r>
                      <a:endParaRPr lang="en-IN" sz="800" dirty="0">
                        <a:solidFill>
                          <a:schemeClr val="dk1"/>
                        </a:solidFill>
                        <a:effectLst/>
                        <a:latin typeface="Arial MT"/>
                        <a:ea typeface="+mn-ea"/>
                        <a:cs typeface="Times New Roman" panose="02020603050405020304" pitchFamily="18" charset="0"/>
                      </a:endParaRPr>
                    </a:p>
                  </a:txBody>
                  <a:tcPr marL="67571" marR="67571" marT="0" marB="0"/>
                </a:tc>
                <a:extLst>
                  <a:ext uri="{0D108BD9-81ED-4DB2-BD59-A6C34878D82A}">
                    <a16:rowId xmlns:a16="http://schemas.microsoft.com/office/drawing/2014/main" val="2932411325"/>
                  </a:ext>
                </a:extLst>
              </a:tr>
            </a:tbl>
          </a:graphicData>
        </a:graphic>
      </p:graphicFrame>
    </p:spTree>
    <p:extLst>
      <p:ext uri="{BB962C8B-B14F-4D97-AF65-F5344CB8AC3E}">
        <p14:creationId xmlns:p14="http://schemas.microsoft.com/office/powerpoint/2010/main" val="2169242759"/>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116" y="-31905"/>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228981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Need</a:t>
            </a:r>
            <a:r>
              <a:rPr sz="1400" spc="50" dirty="0">
                <a:solidFill>
                  <a:srgbClr val="FFFFFF"/>
                </a:solidFill>
                <a:latin typeface="Arial MT"/>
                <a:cs typeface="Arial MT"/>
              </a:rPr>
              <a:t> </a:t>
            </a:r>
            <a:r>
              <a:rPr sz="1400" dirty="0">
                <a:solidFill>
                  <a:srgbClr val="FFFFFF"/>
                </a:solidFill>
                <a:latin typeface="Arial MT"/>
                <a:cs typeface="Arial MT"/>
              </a:rPr>
              <a:t>/</a:t>
            </a:r>
            <a:r>
              <a:rPr sz="1400" spc="55" dirty="0">
                <a:solidFill>
                  <a:srgbClr val="FFFFFF"/>
                </a:solidFill>
                <a:latin typeface="Arial MT"/>
                <a:cs typeface="Arial MT"/>
              </a:rPr>
              <a:t> </a:t>
            </a:r>
            <a:r>
              <a:rPr sz="1400" dirty="0">
                <a:solidFill>
                  <a:srgbClr val="FFFFFF"/>
                </a:solidFill>
                <a:latin typeface="Arial MT"/>
                <a:cs typeface="Arial MT"/>
              </a:rPr>
              <a:t>Objective</a:t>
            </a:r>
            <a:r>
              <a:rPr sz="1400" spc="55" dirty="0">
                <a:solidFill>
                  <a:srgbClr val="FFFFFF"/>
                </a:solidFill>
                <a:latin typeface="Arial MT"/>
                <a:cs typeface="Arial MT"/>
              </a:rPr>
              <a:t> </a:t>
            </a:r>
            <a:r>
              <a:rPr sz="1400" dirty="0">
                <a:solidFill>
                  <a:srgbClr val="FFFFFF"/>
                </a:solidFill>
                <a:latin typeface="Arial MT"/>
                <a:cs typeface="Arial MT"/>
              </a:rPr>
              <a:t>and</a:t>
            </a:r>
            <a:r>
              <a:rPr sz="1400" spc="55" dirty="0">
                <a:solidFill>
                  <a:srgbClr val="FFFFFF"/>
                </a:solidFill>
                <a:latin typeface="Arial MT"/>
                <a:cs typeface="Arial MT"/>
              </a:rPr>
              <a:t> </a:t>
            </a:r>
            <a:r>
              <a:rPr sz="1400" spc="-10" dirty="0">
                <a:solidFill>
                  <a:srgbClr val="FFFFFF"/>
                </a:solidFill>
                <a:latin typeface="Arial MT"/>
                <a:cs typeface="Arial MT"/>
              </a:rPr>
              <a:t>Scope</a:t>
            </a:r>
            <a:endParaRPr sz="1400">
              <a:latin typeface="Arial MT"/>
              <a:cs typeface="Arial MT"/>
            </a:endParaRPr>
          </a:p>
        </p:txBody>
      </p:sp>
      <p:sp>
        <p:nvSpPr>
          <p:cNvPr id="5" name="object 5"/>
          <p:cNvSpPr txBox="1"/>
          <p:nvPr/>
        </p:nvSpPr>
        <p:spPr>
          <a:xfrm>
            <a:off x="226516" y="263628"/>
            <a:ext cx="4383584" cy="2309670"/>
          </a:xfrm>
          <a:prstGeom prst="rect">
            <a:avLst/>
          </a:prstGeom>
        </p:spPr>
        <p:txBody>
          <a:bodyPr vert="horz" wrap="square" lIns="0" tIns="55244" rIns="0" bIns="0" rtlCol="0">
            <a:spAutoFit/>
          </a:bodyPr>
          <a:lstStyle/>
          <a:p>
            <a:pPr algn="just">
              <a:lnSpc>
                <a:spcPct val="150000"/>
              </a:lnSpc>
            </a:pPr>
            <a:r>
              <a:rPr lang="en-US" sz="1100" b="1" dirty="0">
                <a:latin typeface="Arial MT"/>
                <a:cs typeface="Times New Roman" panose="02020603050405020304" pitchFamily="18" charset="0"/>
              </a:rPr>
              <a:t>Need:</a:t>
            </a:r>
            <a:endParaRPr lang="en-US" sz="1100" dirty="0">
              <a:latin typeface="Arial MT"/>
              <a:cs typeface="Times New Roman" panose="02020603050405020304" pitchFamily="18" charset="0"/>
            </a:endParaRPr>
          </a:p>
          <a:p>
            <a:pPr lvl="4" algn="just">
              <a:lnSpc>
                <a:spcPct val="150000"/>
              </a:lnSpc>
            </a:pPr>
            <a:r>
              <a:rPr lang="en-US" sz="1100" dirty="0">
                <a:latin typeface="Arial MT"/>
                <a:cs typeface="Times New Roman" panose="02020603050405020304" pitchFamily="18" charset="0"/>
              </a:rPr>
              <a:t>Track emotions and focus patterns through visual analytics.</a:t>
            </a:r>
          </a:p>
          <a:p>
            <a:pPr lvl="2" algn="just">
              <a:lnSpc>
                <a:spcPct val="150000"/>
              </a:lnSpc>
            </a:pPr>
            <a:r>
              <a:rPr lang="en-US" sz="1100" dirty="0">
                <a:latin typeface="Arial MT"/>
                <a:cs typeface="Times New Roman" panose="02020603050405020304" pitchFamily="18" charset="0"/>
              </a:rPr>
              <a:t>Help users manage workload and prevent fatigue.</a:t>
            </a:r>
          </a:p>
          <a:p>
            <a:pPr lvl="2" algn="just">
              <a:lnSpc>
                <a:spcPct val="150000"/>
              </a:lnSpc>
            </a:pPr>
            <a:r>
              <a:rPr lang="en-US" sz="1100" dirty="0">
                <a:latin typeface="Arial MT"/>
                <a:cs typeface="Times New Roman" panose="02020603050405020304" pitchFamily="18" charset="0"/>
              </a:rPr>
              <a:t>Encourage balanced and healthy work habits.</a:t>
            </a:r>
          </a:p>
          <a:p>
            <a:pPr algn="just">
              <a:lnSpc>
                <a:spcPct val="150000"/>
              </a:lnSpc>
            </a:pPr>
            <a:r>
              <a:rPr lang="en-US" sz="1100" b="1" dirty="0">
                <a:latin typeface="Arial MT"/>
                <a:cs typeface="Times New Roman" panose="02020603050405020304" pitchFamily="18" charset="0"/>
              </a:rPr>
              <a:t>Objective:</a:t>
            </a:r>
            <a:endParaRPr lang="en-US" sz="1100" dirty="0">
              <a:latin typeface="Arial MT"/>
              <a:cs typeface="Times New Roman" panose="02020603050405020304" pitchFamily="18" charset="0"/>
            </a:endParaRPr>
          </a:p>
          <a:p>
            <a:pPr algn="just">
              <a:lnSpc>
                <a:spcPct val="150000"/>
              </a:lnSpc>
            </a:pPr>
            <a:r>
              <a:rPr lang="en-US" sz="1100" dirty="0">
                <a:latin typeface="Arial MT"/>
                <a:cs typeface="Times New Roman" panose="02020603050405020304" pitchFamily="18" charset="0"/>
              </a:rPr>
              <a:t>To detect emotions and fatigue using facial analysis.</a:t>
            </a:r>
          </a:p>
          <a:p>
            <a:pPr algn="just">
              <a:lnSpc>
                <a:spcPct val="150000"/>
              </a:lnSpc>
            </a:pPr>
            <a:r>
              <a:rPr lang="en-US" sz="1100" dirty="0">
                <a:latin typeface="Arial MT"/>
                <a:cs typeface="Times New Roman" panose="02020603050405020304" pitchFamily="18" charset="0"/>
              </a:rPr>
              <a:t>To train the AI model on the FER-2013 dataset.</a:t>
            </a:r>
          </a:p>
          <a:p>
            <a:pPr algn="just">
              <a:lnSpc>
                <a:spcPct val="150000"/>
              </a:lnSpc>
            </a:pPr>
            <a:r>
              <a:rPr lang="en-US" sz="1100" dirty="0">
                <a:latin typeface="Arial MT"/>
                <a:cs typeface="Times New Roman" panose="02020603050405020304" pitchFamily="18" charset="0"/>
              </a:rPr>
              <a:t>To display emotional and fatigue trends on a Streamlit dashboard.</a:t>
            </a:r>
          </a:p>
          <a:p>
            <a:pPr algn="just">
              <a:lnSpc>
                <a:spcPct val="150000"/>
              </a:lnSpc>
            </a:pPr>
            <a:r>
              <a:rPr lang="en-US" sz="1100" dirty="0">
                <a:latin typeface="Arial MT"/>
                <a:cs typeface="Times New Roman" panose="02020603050405020304" pitchFamily="18" charset="0"/>
              </a:rPr>
              <a:t>To promote mental well-being and prevent burnout</a:t>
            </a:r>
            <a:r>
              <a:rPr lang="en-US" sz="1100" dirty="0">
                <a:latin typeface="Arial MT"/>
              </a:rPr>
              <a:t>.</a:t>
            </a:r>
          </a:p>
        </p:txBody>
      </p:sp>
      <p:pic>
        <p:nvPicPr>
          <p:cNvPr id="6" name="object 6"/>
          <p:cNvPicPr/>
          <p:nvPr/>
        </p:nvPicPr>
        <p:blipFill>
          <a:blip r:embed="rId2" cstate="print"/>
          <a:stretch>
            <a:fillRect/>
          </a:stretch>
        </p:blipFill>
        <p:spPr>
          <a:xfrm>
            <a:off x="103345" y="1680708"/>
            <a:ext cx="76809" cy="76809"/>
          </a:xfrm>
          <a:prstGeom prst="rect">
            <a:avLst/>
          </a:prstGeom>
        </p:spPr>
      </p:pic>
      <p:pic>
        <p:nvPicPr>
          <p:cNvPr id="7" name="object 7"/>
          <p:cNvPicPr/>
          <p:nvPr/>
        </p:nvPicPr>
        <p:blipFill>
          <a:blip r:embed="rId3" cstate="print"/>
          <a:stretch>
            <a:fillRect/>
          </a:stretch>
        </p:blipFill>
        <p:spPr>
          <a:xfrm>
            <a:off x="107757" y="2186964"/>
            <a:ext cx="76809" cy="76809"/>
          </a:xfrm>
          <a:prstGeom prst="rect">
            <a:avLst/>
          </a:prstGeom>
        </p:spPr>
      </p:pic>
      <p:grpSp>
        <p:nvGrpSpPr>
          <p:cNvPr id="9" name="object 9"/>
          <p:cNvGrpSpPr/>
          <p:nvPr/>
        </p:nvGrpSpPr>
        <p:grpSpPr>
          <a:xfrm>
            <a:off x="0" y="3326968"/>
            <a:ext cx="4608195" cy="129539"/>
            <a:chOff x="0" y="3326968"/>
            <a:chExt cx="4608195" cy="129539"/>
          </a:xfrm>
        </p:grpSpPr>
        <p:sp>
          <p:nvSpPr>
            <p:cNvPr id="10" name="object 10"/>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1" name="object 11"/>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2" name="object 12"/>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object 13"/>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4" name="object 14"/>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5" name="object 15"/>
          <p:cNvSpPr txBox="1">
            <a:spLocks noGrp="1"/>
          </p:cNvSpPr>
          <p:nvPr>
            <p:ph type="dt" sz="half" idx="6"/>
          </p:nvPr>
        </p:nvSpPr>
        <p:spPr>
          <a:xfrm>
            <a:off x="3219451" y="3331252"/>
            <a:ext cx="8126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6" name="object 16"/>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6</a:t>
            </a:fld>
            <a:r>
              <a:rPr spc="-70" dirty="0"/>
              <a:t> </a:t>
            </a:r>
            <a:r>
              <a:rPr dirty="0"/>
              <a:t>/</a:t>
            </a:r>
            <a:r>
              <a:rPr spc="-65" dirty="0"/>
              <a:t> </a:t>
            </a:r>
            <a:r>
              <a:rPr lang="en-IN" spc="-25" dirty="0"/>
              <a:t>24</a:t>
            </a:r>
            <a:endParaRPr spc="-25" dirty="0"/>
          </a:p>
        </p:txBody>
      </p:sp>
      <p:pic>
        <p:nvPicPr>
          <p:cNvPr id="27" name="object 6">
            <a:extLst>
              <a:ext uri="{FF2B5EF4-FFF2-40B4-BE49-F238E27FC236}">
                <a16:creationId xmlns:a16="http://schemas.microsoft.com/office/drawing/2014/main" id="{D87E12F5-3B30-50D8-3ADA-023F1FE7A5FD}"/>
              </a:ext>
            </a:extLst>
          </p:cNvPr>
          <p:cNvPicPr/>
          <p:nvPr/>
        </p:nvPicPr>
        <p:blipFill>
          <a:blip r:embed="rId2" cstate="print"/>
          <a:stretch>
            <a:fillRect/>
          </a:stretch>
        </p:blipFill>
        <p:spPr>
          <a:xfrm>
            <a:off x="102044" y="685075"/>
            <a:ext cx="76809" cy="76809"/>
          </a:xfrm>
          <a:prstGeom prst="rect">
            <a:avLst/>
          </a:prstGeom>
        </p:spPr>
      </p:pic>
      <p:pic>
        <p:nvPicPr>
          <p:cNvPr id="28" name="object 6">
            <a:extLst>
              <a:ext uri="{FF2B5EF4-FFF2-40B4-BE49-F238E27FC236}">
                <a16:creationId xmlns:a16="http://schemas.microsoft.com/office/drawing/2014/main" id="{289BF783-2F82-02AB-D9BA-943284DB4EC5}"/>
              </a:ext>
            </a:extLst>
          </p:cNvPr>
          <p:cNvPicPr/>
          <p:nvPr/>
        </p:nvPicPr>
        <p:blipFill>
          <a:blip r:embed="rId2" cstate="print"/>
          <a:stretch>
            <a:fillRect/>
          </a:stretch>
        </p:blipFill>
        <p:spPr>
          <a:xfrm>
            <a:off x="102044" y="922989"/>
            <a:ext cx="76809" cy="76809"/>
          </a:xfrm>
          <a:prstGeom prst="rect">
            <a:avLst/>
          </a:prstGeom>
        </p:spPr>
      </p:pic>
      <p:pic>
        <p:nvPicPr>
          <p:cNvPr id="29" name="object 6">
            <a:extLst>
              <a:ext uri="{FF2B5EF4-FFF2-40B4-BE49-F238E27FC236}">
                <a16:creationId xmlns:a16="http://schemas.microsoft.com/office/drawing/2014/main" id="{CA2CE4FF-CD68-20EE-CB36-8D21377AAE74}"/>
              </a:ext>
            </a:extLst>
          </p:cNvPr>
          <p:cNvPicPr/>
          <p:nvPr/>
        </p:nvPicPr>
        <p:blipFill>
          <a:blip r:embed="rId2" cstate="print"/>
          <a:stretch>
            <a:fillRect/>
          </a:stretch>
        </p:blipFill>
        <p:spPr>
          <a:xfrm>
            <a:off x="107755" y="1179550"/>
            <a:ext cx="76809" cy="76809"/>
          </a:xfrm>
          <a:prstGeom prst="rect">
            <a:avLst/>
          </a:prstGeom>
        </p:spPr>
      </p:pic>
      <p:pic>
        <p:nvPicPr>
          <p:cNvPr id="35" name="object 6">
            <a:extLst>
              <a:ext uri="{FF2B5EF4-FFF2-40B4-BE49-F238E27FC236}">
                <a16:creationId xmlns:a16="http://schemas.microsoft.com/office/drawing/2014/main" id="{166F3877-39F4-4E63-444F-2C8D645E285B}"/>
              </a:ext>
            </a:extLst>
          </p:cNvPr>
          <p:cNvPicPr/>
          <p:nvPr/>
        </p:nvPicPr>
        <p:blipFill>
          <a:blip r:embed="rId2" cstate="print"/>
          <a:stretch>
            <a:fillRect/>
          </a:stretch>
        </p:blipFill>
        <p:spPr>
          <a:xfrm>
            <a:off x="107756" y="1933836"/>
            <a:ext cx="76809" cy="76809"/>
          </a:xfrm>
          <a:prstGeom prst="rect">
            <a:avLst/>
          </a:prstGeom>
        </p:spPr>
      </p:pic>
      <p:pic>
        <p:nvPicPr>
          <p:cNvPr id="36" name="object 6">
            <a:extLst>
              <a:ext uri="{FF2B5EF4-FFF2-40B4-BE49-F238E27FC236}">
                <a16:creationId xmlns:a16="http://schemas.microsoft.com/office/drawing/2014/main" id="{E8F75281-CB00-C39E-5859-9F44EA9F78AF}"/>
              </a:ext>
            </a:extLst>
          </p:cNvPr>
          <p:cNvPicPr/>
          <p:nvPr/>
        </p:nvPicPr>
        <p:blipFill>
          <a:blip r:embed="rId2" cstate="print"/>
          <a:stretch>
            <a:fillRect/>
          </a:stretch>
        </p:blipFill>
        <p:spPr>
          <a:xfrm>
            <a:off x="108134" y="2445640"/>
            <a:ext cx="76809" cy="76809"/>
          </a:xfrm>
          <a:prstGeom prst="rect">
            <a:avLst/>
          </a:prstGeom>
        </p:spPr>
      </p:pic>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60A07-B11E-4D05-CFF1-FC8CC44F879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DD9BE1A-6D05-53F4-C0A2-E644E6890E60}"/>
              </a:ext>
            </a:extLst>
          </p:cNvPr>
          <p:cNvSpPr/>
          <p:nvPr/>
        </p:nvSpPr>
        <p:spPr>
          <a:xfrm>
            <a:off x="-8116" y="-31905"/>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a:extLst>
              <a:ext uri="{FF2B5EF4-FFF2-40B4-BE49-F238E27FC236}">
                <a16:creationId xmlns:a16="http://schemas.microsoft.com/office/drawing/2014/main" id="{D4B9187D-BCA5-0E0C-06D5-0970F6522D05}"/>
              </a:ext>
            </a:extLst>
          </p:cNvPr>
          <p:cNvSpPr txBox="1"/>
          <p:nvPr/>
        </p:nvSpPr>
        <p:spPr>
          <a:xfrm>
            <a:off x="95300" y="45565"/>
            <a:ext cx="228981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Need</a:t>
            </a:r>
            <a:r>
              <a:rPr sz="1400" spc="50" dirty="0">
                <a:solidFill>
                  <a:srgbClr val="FFFFFF"/>
                </a:solidFill>
                <a:latin typeface="Arial MT"/>
                <a:cs typeface="Arial MT"/>
              </a:rPr>
              <a:t> </a:t>
            </a:r>
            <a:r>
              <a:rPr sz="1400" dirty="0">
                <a:solidFill>
                  <a:srgbClr val="FFFFFF"/>
                </a:solidFill>
                <a:latin typeface="Arial MT"/>
                <a:cs typeface="Arial MT"/>
              </a:rPr>
              <a:t>/</a:t>
            </a:r>
            <a:r>
              <a:rPr sz="1400" spc="55" dirty="0">
                <a:solidFill>
                  <a:srgbClr val="FFFFFF"/>
                </a:solidFill>
                <a:latin typeface="Arial MT"/>
                <a:cs typeface="Arial MT"/>
              </a:rPr>
              <a:t> </a:t>
            </a:r>
            <a:r>
              <a:rPr sz="1400" dirty="0">
                <a:solidFill>
                  <a:srgbClr val="FFFFFF"/>
                </a:solidFill>
                <a:latin typeface="Arial MT"/>
                <a:cs typeface="Arial MT"/>
              </a:rPr>
              <a:t>Objective</a:t>
            </a:r>
            <a:r>
              <a:rPr sz="1400" spc="55" dirty="0">
                <a:solidFill>
                  <a:srgbClr val="FFFFFF"/>
                </a:solidFill>
                <a:latin typeface="Arial MT"/>
                <a:cs typeface="Arial MT"/>
              </a:rPr>
              <a:t> </a:t>
            </a:r>
            <a:r>
              <a:rPr sz="1400" dirty="0">
                <a:solidFill>
                  <a:srgbClr val="FFFFFF"/>
                </a:solidFill>
                <a:latin typeface="Arial MT"/>
                <a:cs typeface="Arial MT"/>
              </a:rPr>
              <a:t>and</a:t>
            </a:r>
            <a:r>
              <a:rPr sz="1400" spc="55" dirty="0">
                <a:solidFill>
                  <a:srgbClr val="FFFFFF"/>
                </a:solidFill>
                <a:latin typeface="Arial MT"/>
                <a:cs typeface="Arial MT"/>
              </a:rPr>
              <a:t> </a:t>
            </a:r>
            <a:r>
              <a:rPr sz="1400" spc="-10" dirty="0">
                <a:solidFill>
                  <a:srgbClr val="FFFFFF"/>
                </a:solidFill>
                <a:latin typeface="Arial MT"/>
                <a:cs typeface="Arial MT"/>
              </a:rPr>
              <a:t>Scope</a:t>
            </a:r>
            <a:endParaRPr sz="1400">
              <a:latin typeface="Arial MT"/>
              <a:cs typeface="Arial MT"/>
            </a:endParaRPr>
          </a:p>
        </p:txBody>
      </p:sp>
      <p:sp>
        <p:nvSpPr>
          <p:cNvPr id="5" name="object 5">
            <a:extLst>
              <a:ext uri="{FF2B5EF4-FFF2-40B4-BE49-F238E27FC236}">
                <a16:creationId xmlns:a16="http://schemas.microsoft.com/office/drawing/2014/main" id="{E7770FE1-1941-514C-3CD5-41F14E48F20C}"/>
              </a:ext>
            </a:extLst>
          </p:cNvPr>
          <p:cNvSpPr txBox="1"/>
          <p:nvPr/>
        </p:nvSpPr>
        <p:spPr>
          <a:xfrm>
            <a:off x="226516" y="263628"/>
            <a:ext cx="4138929" cy="2055755"/>
          </a:xfrm>
          <a:prstGeom prst="rect">
            <a:avLst/>
          </a:prstGeom>
        </p:spPr>
        <p:txBody>
          <a:bodyPr vert="horz" wrap="square" lIns="0" tIns="55244" rIns="0" bIns="0" rtlCol="0">
            <a:spAutoFit/>
          </a:bodyPr>
          <a:lstStyle/>
          <a:p>
            <a:pPr algn="just">
              <a:lnSpc>
                <a:spcPct val="150000"/>
              </a:lnSpc>
            </a:pPr>
            <a:r>
              <a:rPr lang="en-US" sz="1100" b="1" dirty="0">
                <a:latin typeface="Arial MT"/>
                <a:cs typeface="Times New Roman" panose="02020603050405020304" pitchFamily="18" charset="0"/>
              </a:rPr>
              <a:t>Scope:</a:t>
            </a:r>
            <a:endParaRPr lang="en-US" sz="1100" dirty="0">
              <a:latin typeface="Arial MT"/>
              <a:cs typeface="Times New Roman" panose="02020603050405020304" pitchFamily="18" charset="0"/>
            </a:endParaRPr>
          </a:p>
          <a:p>
            <a:pPr algn="just">
              <a:lnSpc>
                <a:spcPct val="150000"/>
              </a:lnSpc>
            </a:pPr>
            <a:r>
              <a:rPr lang="en-US" sz="1100" dirty="0">
                <a:latin typeface="Arial MT"/>
                <a:cs typeface="Times New Roman" panose="02020603050405020304" pitchFamily="18" charset="0"/>
              </a:rPr>
              <a:t>Capture real-time webcam video.</a:t>
            </a:r>
          </a:p>
          <a:p>
            <a:pPr algn="just">
              <a:lnSpc>
                <a:spcPct val="150000"/>
              </a:lnSpc>
            </a:pPr>
            <a:r>
              <a:rPr lang="en-US" sz="1100" dirty="0">
                <a:latin typeface="Arial MT"/>
                <a:cs typeface="Times New Roman" panose="02020603050405020304" pitchFamily="18" charset="0"/>
              </a:rPr>
              <a:t>Detect and analyze facial emotions locally.</a:t>
            </a:r>
          </a:p>
          <a:p>
            <a:pPr algn="just">
              <a:lnSpc>
                <a:spcPct val="150000"/>
              </a:lnSpc>
            </a:pPr>
            <a:r>
              <a:rPr lang="en-US" sz="1100" dirty="0">
                <a:latin typeface="Arial MT"/>
                <a:cs typeface="Times New Roman" panose="02020603050405020304" pitchFamily="18" charset="0"/>
              </a:rPr>
              <a:t>Monitor fatigue and provide real-time suggestions (e.g., “Take a short break”).</a:t>
            </a:r>
          </a:p>
          <a:p>
            <a:pPr algn="just">
              <a:lnSpc>
                <a:spcPct val="150000"/>
              </a:lnSpc>
            </a:pPr>
            <a:r>
              <a:rPr lang="en-US" sz="1100" dirty="0">
                <a:latin typeface="Arial MT"/>
                <a:cs typeface="Times New Roman" panose="02020603050405020304" pitchFamily="18" charset="0"/>
              </a:rPr>
              <a:t>Display emotional data and fatigue scores on a Streamlit dashboard.</a:t>
            </a:r>
          </a:p>
          <a:p>
            <a:pPr algn="just">
              <a:lnSpc>
                <a:spcPct val="150000"/>
              </a:lnSpc>
            </a:pPr>
            <a:r>
              <a:rPr lang="en-US" sz="1100" dirty="0">
                <a:latin typeface="Arial MT"/>
                <a:cs typeface="Times New Roman" panose="02020603050405020304" pitchFamily="18" charset="0"/>
              </a:rPr>
              <a:t>Ensure all processing is done locally for privacy.</a:t>
            </a:r>
          </a:p>
        </p:txBody>
      </p:sp>
      <p:pic>
        <p:nvPicPr>
          <p:cNvPr id="6" name="object 6">
            <a:extLst>
              <a:ext uri="{FF2B5EF4-FFF2-40B4-BE49-F238E27FC236}">
                <a16:creationId xmlns:a16="http://schemas.microsoft.com/office/drawing/2014/main" id="{9F9BC811-2D32-355D-AD6F-7F95BD7D325A}"/>
              </a:ext>
            </a:extLst>
          </p:cNvPr>
          <p:cNvPicPr/>
          <p:nvPr/>
        </p:nvPicPr>
        <p:blipFill>
          <a:blip r:embed="rId2" cstate="print"/>
          <a:stretch>
            <a:fillRect/>
          </a:stretch>
        </p:blipFill>
        <p:spPr>
          <a:xfrm>
            <a:off x="114231" y="1686205"/>
            <a:ext cx="76809" cy="76809"/>
          </a:xfrm>
          <a:prstGeom prst="rect">
            <a:avLst/>
          </a:prstGeom>
        </p:spPr>
      </p:pic>
      <p:grpSp>
        <p:nvGrpSpPr>
          <p:cNvPr id="9" name="object 9">
            <a:extLst>
              <a:ext uri="{FF2B5EF4-FFF2-40B4-BE49-F238E27FC236}">
                <a16:creationId xmlns:a16="http://schemas.microsoft.com/office/drawing/2014/main" id="{675535DD-1179-863C-6737-EF8874A30C4C}"/>
              </a:ext>
            </a:extLst>
          </p:cNvPr>
          <p:cNvGrpSpPr/>
          <p:nvPr/>
        </p:nvGrpSpPr>
        <p:grpSpPr>
          <a:xfrm>
            <a:off x="0" y="3326968"/>
            <a:ext cx="4608195" cy="129539"/>
            <a:chOff x="0" y="3326968"/>
            <a:chExt cx="4608195" cy="129539"/>
          </a:xfrm>
        </p:grpSpPr>
        <p:sp>
          <p:nvSpPr>
            <p:cNvPr id="10" name="object 10">
              <a:extLst>
                <a:ext uri="{FF2B5EF4-FFF2-40B4-BE49-F238E27FC236}">
                  <a16:creationId xmlns:a16="http://schemas.microsoft.com/office/drawing/2014/main" id="{8C3B0198-07EA-0F7E-BB61-6324E13878C6}"/>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1" name="object 11">
              <a:extLst>
                <a:ext uri="{FF2B5EF4-FFF2-40B4-BE49-F238E27FC236}">
                  <a16:creationId xmlns:a16="http://schemas.microsoft.com/office/drawing/2014/main" id="{484C573C-33F9-F654-61E3-07239266FF56}"/>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2" name="object 12">
              <a:extLst>
                <a:ext uri="{FF2B5EF4-FFF2-40B4-BE49-F238E27FC236}">
                  <a16:creationId xmlns:a16="http://schemas.microsoft.com/office/drawing/2014/main" id="{80F36E1F-A9D3-582B-3478-2A7E95059231}"/>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object 13">
            <a:extLst>
              <a:ext uri="{FF2B5EF4-FFF2-40B4-BE49-F238E27FC236}">
                <a16:creationId xmlns:a16="http://schemas.microsoft.com/office/drawing/2014/main" id="{BBFE006A-8930-A9ED-963C-501A35025D8E}"/>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4" name="object 14">
            <a:extLst>
              <a:ext uri="{FF2B5EF4-FFF2-40B4-BE49-F238E27FC236}">
                <a16:creationId xmlns:a16="http://schemas.microsoft.com/office/drawing/2014/main" id="{057B45EF-7F5A-2DBB-5806-368882DE4681}"/>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5" name="object 15">
            <a:extLst>
              <a:ext uri="{FF2B5EF4-FFF2-40B4-BE49-F238E27FC236}">
                <a16:creationId xmlns:a16="http://schemas.microsoft.com/office/drawing/2014/main" id="{B9E76A89-5880-1658-9F4D-F0783DEBC7E0}"/>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6" name="object 16">
            <a:extLst>
              <a:ext uri="{FF2B5EF4-FFF2-40B4-BE49-F238E27FC236}">
                <a16:creationId xmlns:a16="http://schemas.microsoft.com/office/drawing/2014/main" id="{EABA30B9-9EF1-46A9-07A3-834286FFF504}"/>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7</a:t>
            </a:fld>
            <a:r>
              <a:rPr spc="-70" dirty="0"/>
              <a:t> </a:t>
            </a:r>
            <a:r>
              <a:rPr dirty="0"/>
              <a:t>/</a:t>
            </a:r>
            <a:r>
              <a:rPr spc="-65" dirty="0"/>
              <a:t> </a:t>
            </a:r>
            <a:r>
              <a:rPr lang="en-IN" spc="-25" dirty="0"/>
              <a:t>24</a:t>
            </a:r>
            <a:endParaRPr spc="-25" dirty="0"/>
          </a:p>
        </p:txBody>
      </p:sp>
      <p:pic>
        <p:nvPicPr>
          <p:cNvPr id="27" name="object 6">
            <a:extLst>
              <a:ext uri="{FF2B5EF4-FFF2-40B4-BE49-F238E27FC236}">
                <a16:creationId xmlns:a16="http://schemas.microsoft.com/office/drawing/2014/main" id="{D48EA23B-550E-7BC1-71E3-D31FBDC9724D}"/>
              </a:ext>
            </a:extLst>
          </p:cNvPr>
          <p:cNvPicPr/>
          <p:nvPr/>
        </p:nvPicPr>
        <p:blipFill>
          <a:blip r:embed="rId2" cstate="print"/>
          <a:stretch>
            <a:fillRect/>
          </a:stretch>
        </p:blipFill>
        <p:spPr>
          <a:xfrm>
            <a:off x="114507" y="673772"/>
            <a:ext cx="76809" cy="76809"/>
          </a:xfrm>
          <a:prstGeom prst="rect">
            <a:avLst/>
          </a:prstGeom>
        </p:spPr>
      </p:pic>
      <p:pic>
        <p:nvPicPr>
          <p:cNvPr id="28" name="object 6">
            <a:extLst>
              <a:ext uri="{FF2B5EF4-FFF2-40B4-BE49-F238E27FC236}">
                <a16:creationId xmlns:a16="http://schemas.microsoft.com/office/drawing/2014/main" id="{CE764225-09CA-41F7-0940-2CF9D4C22593}"/>
              </a:ext>
            </a:extLst>
          </p:cNvPr>
          <p:cNvPicPr/>
          <p:nvPr/>
        </p:nvPicPr>
        <p:blipFill>
          <a:blip r:embed="rId2" cstate="print"/>
          <a:stretch>
            <a:fillRect/>
          </a:stretch>
        </p:blipFill>
        <p:spPr>
          <a:xfrm>
            <a:off x="108724" y="911313"/>
            <a:ext cx="76809" cy="76809"/>
          </a:xfrm>
          <a:prstGeom prst="rect">
            <a:avLst/>
          </a:prstGeom>
        </p:spPr>
      </p:pic>
      <p:pic>
        <p:nvPicPr>
          <p:cNvPr id="29" name="object 6">
            <a:extLst>
              <a:ext uri="{FF2B5EF4-FFF2-40B4-BE49-F238E27FC236}">
                <a16:creationId xmlns:a16="http://schemas.microsoft.com/office/drawing/2014/main" id="{DF019B1D-10DA-05AD-BF77-247E96B4D740}"/>
              </a:ext>
            </a:extLst>
          </p:cNvPr>
          <p:cNvPicPr/>
          <p:nvPr/>
        </p:nvPicPr>
        <p:blipFill>
          <a:blip r:embed="rId2" cstate="print"/>
          <a:stretch>
            <a:fillRect/>
          </a:stretch>
        </p:blipFill>
        <p:spPr>
          <a:xfrm>
            <a:off x="114231" y="1187258"/>
            <a:ext cx="76809" cy="76809"/>
          </a:xfrm>
          <a:prstGeom prst="rect">
            <a:avLst/>
          </a:prstGeom>
        </p:spPr>
      </p:pic>
    </p:spTree>
    <p:extLst>
      <p:ext uri="{BB962C8B-B14F-4D97-AF65-F5344CB8AC3E}">
        <p14:creationId xmlns:p14="http://schemas.microsoft.com/office/powerpoint/2010/main" val="1786690945"/>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58178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Problem</a:t>
            </a:r>
            <a:r>
              <a:rPr sz="1400" spc="75" dirty="0">
                <a:solidFill>
                  <a:srgbClr val="FFFFFF"/>
                </a:solidFill>
                <a:latin typeface="Arial MT"/>
                <a:cs typeface="Arial MT"/>
              </a:rPr>
              <a:t> </a:t>
            </a:r>
            <a:r>
              <a:rPr sz="1400" spc="-10" dirty="0">
                <a:solidFill>
                  <a:srgbClr val="FFFFFF"/>
                </a:solidFill>
                <a:latin typeface="Arial MT"/>
                <a:cs typeface="Arial MT"/>
              </a:rPr>
              <a:t>Statement</a:t>
            </a:r>
            <a:endParaRPr sz="1400">
              <a:latin typeface="Arial MT"/>
              <a:cs typeface="Arial MT"/>
            </a:endParaRPr>
          </a:p>
        </p:txBody>
      </p:sp>
      <p:pic>
        <p:nvPicPr>
          <p:cNvPr id="4" name="object 4"/>
          <p:cNvPicPr/>
          <p:nvPr/>
        </p:nvPicPr>
        <p:blipFill>
          <a:blip r:embed="rId2" cstate="print"/>
          <a:stretch>
            <a:fillRect/>
          </a:stretch>
        </p:blipFill>
        <p:spPr>
          <a:xfrm>
            <a:off x="250532" y="511175"/>
            <a:ext cx="76809" cy="76809"/>
          </a:xfrm>
          <a:prstGeom prst="rect">
            <a:avLst/>
          </a:prstGeom>
        </p:spPr>
      </p:pic>
      <p:sp>
        <p:nvSpPr>
          <p:cNvPr id="5" name="object 5"/>
          <p:cNvSpPr txBox="1"/>
          <p:nvPr/>
        </p:nvSpPr>
        <p:spPr>
          <a:xfrm>
            <a:off x="402932" y="434975"/>
            <a:ext cx="3959518" cy="857927"/>
          </a:xfrm>
          <a:prstGeom prst="rect">
            <a:avLst/>
          </a:prstGeom>
        </p:spPr>
        <p:txBody>
          <a:bodyPr vert="horz" wrap="square" lIns="0" tIns="11430" rIns="0" bIns="0" rtlCol="0">
            <a:spAutoFit/>
          </a:bodyPr>
          <a:lstStyle/>
          <a:p>
            <a:pPr marL="12700" algn="just">
              <a:lnSpc>
                <a:spcPct val="100000"/>
              </a:lnSpc>
              <a:spcBef>
                <a:spcPts val="90"/>
              </a:spcBef>
            </a:pPr>
            <a:r>
              <a:rPr lang="en-US" sz="1100" dirty="0">
                <a:latin typeface="Arial MT"/>
                <a:cs typeface="Times New Roman" panose="02020603050405020304" pitchFamily="18" charset="0"/>
              </a:rPr>
              <a:t>Build a </a:t>
            </a:r>
            <a:r>
              <a:rPr lang="en-US" sz="1100" b="1" dirty="0">
                <a:latin typeface="Arial MT"/>
                <a:cs typeface="Times New Roman" panose="02020603050405020304" pitchFamily="18" charset="0"/>
              </a:rPr>
              <a:t>non-intrusive, emotion-aware system</a:t>
            </a:r>
            <a:r>
              <a:rPr lang="en-US" sz="1100" dirty="0">
                <a:latin typeface="Arial MT"/>
                <a:cs typeface="Times New Roman" panose="02020603050405020304" pitchFamily="18" charset="0"/>
              </a:rPr>
              <a:t> that uses computer vision and deep learning to analyze facial expressions, classify emotions (like happy, sad, neutral) via a CNN trained on the FER-2013 dataset, and identify signs of mental fatigue over time.</a:t>
            </a:r>
            <a:endParaRPr sz="1100" dirty="0">
              <a:latin typeface="Arial MT"/>
              <a:cs typeface="Times New Roman" panose="02020603050405020304" pitchFamily="18" charset="0"/>
            </a:endParaRPr>
          </a:p>
        </p:txBody>
      </p:sp>
      <p:grpSp>
        <p:nvGrpSpPr>
          <p:cNvPr id="6" name="object 6"/>
          <p:cNvGrpSpPr/>
          <p:nvPr/>
        </p:nvGrpSpPr>
        <p:grpSpPr>
          <a:xfrm>
            <a:off x="0" y="3326968"/>
            <a:ext cx="4608195" cy="129539"/>
            <a:chOff x="0" y="3326968"/>
            <a:chExt cx="4608195" cy="129539"/>
          </a:xfrm>
        </p:grpSpPr>
        <p:sp>
          <p:nvSpPr>
            <p:cNvPr id="7" name="object 7"/>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8" name="object 8"/>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9" name="object 9"/>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1" name="object 11"/>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2" name="object 12"/>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3" name="object 13"/>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8</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91325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Architectural</a:t>
            </a:r>
            <a:r>
              <a:rPr sz="1400" spc="145" dirty="0">
                <a:solidFill>
                  <a:srgbClr val="FFFFFF"/>
                </a:solidFill>
                <a:latin typeface="Arial MT"/>
                <a:cs typeface="Arial MT"/>
              </a:rPr>
              <a:t> </a:t>
            </a:r>
            <a:r>
              <a:rPr sz="1400" spc="-10" dirty="0">
                <a:solidFill>
                  <a:srgbClr val="FFFFFF"/>
                </a:solidFill>
                <a:latin typeface="Arial MT"/>
                <a:cs typeface="Arial MT"/>
              </a:rPr>
              <a:t>Diagram/s</a:t>
            </a:r>
            <a:endParaRPr sz="1400">
              <a:latin typeface="Arial MT"/>
              <a:cs typeface="Arial MT"/>
            </a:endParaRPr>
          </a:p>
        </p:txBody>
      </p:sp>
      <p:sp>
        <p:nvSpPr>
          <p:cNvPr id="5" name="object 5"/>
          <p:cNvSpPr txBox="1"/>
          <p:nvPr/>
        </p:nvSpPr>
        <p:spPr>
          <a:xfrm>
            <a:off x="1171485" y="3124306"/>
            <a:ext cx="2265045"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3333B2"/>
                </a:solidFill>
                <a:latin typeface="Arial MT"/>
                <a:cs typeface="Arial MT"/>
              </a:rPr>
              <a:t>Figure:</a:t>
            </a:r>
            <a:r>
              <a:rPr sz="1000" spc="-25" dirty="0">
                <a:solidFill>
                  <a:srgbClr val="3333B2"/>
                </a:solidFill>
                <a:latin typeface="Arial MT"/>
                <a:cs typeface="Arial MT"/>
              </a:rPr>
              <a:t> </a:t>
            </a:r>
            <a:r>
              <a:rPr sz="1000" dirty="0">
                <a:latin typeface="Arial MT"/>
                <a:cs typeface="Arial MT"/>
              </a:rPr>
              <a:t>1.System</a:t>
            </a:r>
            <a:r>
              <a:rPr sz="1000" spc="-25" dirty="0">
                <a:latin typeface="Arial MT"/>
                <a:cs typeface="Arial MT"/>
              </a:rPr>
              <a:t> </a:t>
            </a:r>
            <a:r>
              <a:rPr sz="1000" dirty="0">
                <a:latin typeface="Arial MT"/>
                <a:cs typeface="Arial MT"/>
              </a:rPr>
              <a:t>Architectural</a:t>
            </a:r>
            <a:r>
              <a:rPr sz="1000" spc="-25" dirty="0">
                <a:latin typeface="Arial MT"/>
                <a:cs typeface="Arial MT"/>
              </a:rPr>
              <a:t> </a:t>
            </a:r>
            <a:r>
              <a:rPr sz="1000" spc="-10" dirty="0">
                <a:latin typeface="Arial MT"/>
                <a:cs typeface="Arial MT"/>
              </a:rPr>
              <a:t>Diagram.</a:t>
            </a:r>
            <a:endParaRPr sz="1000" dirty="0">
              <a:latin typeface="Arial MT"/>
              <a:cs typeface="Arial MT"/>
            </a:endParaRPr>
          </a:p>
        </p:txBody>
      </p:sp>
      <p:grpSp>
        <p:nvGrpSpPr>
          <p:cNvPr id="6" name="object 6"/>
          <p:cNvGrpSpPr/>
          <p:nvPr/>
        </p:nvGrpSpPr>
        <p:grpSpPr>
          <a:xfrm>
            <a:off x="0" y="3326968"/>
            <a:ext cx="4608195" cy="129539"/>
            <a:chOff x="0" y="3326968"/>
            <a:chExt cx="4608195" cy="129539"/>
          </a:xfrm>
        </p:grpSpPr>
        <p:sp>
          <p:nvSpPr>
            <p:cNvPr id="7" name="object 7"/>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8" name="object 8"/>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9" name="object 9"/>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1" name="object 11"/>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2" name="object 12"/>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3" name="object 13"/>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9</a:t>
            </a:fld>
            <a:r>
              <a:rPr spc="-70" dirty="0"/>
              <a:t> </a:t>
            </a:r>
            <a:r>
              <a:rPr dirty="0"/>
              <a:t>/</a:t>
            </a:r>
            <a:r>
              <a:rPr spc="-65" dirty="0"/>
              <a:t> </a:t>
            </a:r>
            <a:r>
              <a:rPr lang="en-IN" spc="-25" dirty="0"/>
              <a:t>24</a:t>
            </a:r>
            <a:endParaRPr spc="-25" dirty="0"/>
          </a:p>
        </p:txBody>
      </p:sp>
      <p:pic>
        <p:nvPicPr>
          <p:cNvPr id="15" name="Picture 14">
            <a:extLst>
              <a:ext uri="{FF2B5EF4-FFF2-40B4-BE49-F238E27FC236}">
                <a16:creationId xmlns:a16="http://schemas.microsoft.com/office/drawing/2014/main" id="{A206FFE2-F205-D265-D9D6-39AD4F39E7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9141"/>
            <a:ext cx="4610100" cy="2222468"/>
          </a:xfrm>
          <a:prstGeom prst="rect">
            <a:avLst/>
          </a:prstGeom>
        </p:spPr>
      </p:pic>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203073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Mathematical</a:t>
            </a:r>
            <a:r>
              <a:rPr sz="1400" spc="170" dirty="0">
                <a:solidFill>
                  <a:srgbClr val="FFFFFF"/>
                </a:solidFill>
                <a:latin typeface="Arial MT"/>
                <a:cs typeface="Arial MT"/>
              </a:rPr>
              <a:t> </a:t>
            </a:r>
            <a:r>
              <a:rPr sz="1400" spc="-10" dirty="0">
                <a:solidFill>
                  <a:srgbClr val="FFFFFF"/>
                </a:solidFill>
                <a:latin typeface="Arial MT"/>
                <a:cs typeface="Arial MT"/>
              </a:rPr>
              <a:t>Model(1/2)</a:t>
            </a:r>
            <a:endParaRPr sz="1400">
              <a:latin typeface="Arial MT"/>
              <a:cs typeface="Arial MT"/>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371851" y="3331252"/>
            <a:ext cx="6602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10</a:t>
            </a:fld>
            <a:r>
              <a:rPr spc="-70" dirty="0"/>
              <a:t> </a:t>
            </a:r>
            <a:r>
              <a:rPr dirty="0"/>
              <a:t>/</a:t>
            </a:r>
            <a:r>
              <a:rPr spc="-65" dirty="0"/>
              <a:t> </a:t>
            </a:r>
            <a:r>
              <a:rPr lang="en-IN" spc="-25" dirty="0"/>
              <a:t>24</a:t>
            </a:r>
            <a:endParaRPr spc="-25" dirty="0"/>
          </a:p>
        </p:txBody>
      </p:sp>
      <p:sp>
        <p:nvSpPr>
          <p:cNvPr id="18" name="TextBox 17"/>
          <p:cNvSpPr txBox="1"/>
          <p:nvPr/>
        </p:nvSpPr>
        <p:spPr>
          <a:xfrm>
            <a:off x="0" y="367510"/>
            <a:ext cx="4610100" cy="3046988"/>
          </a:xfrm>
          <a:prstGeom prst="rect">
            <a:avLst/>
          </a:prstGeom>
          <a:noFill/>
        </p:spPr>
        <p:txBody>
          <a:bodyPr wrap="square">
            <a:spAutoFit/>
          </a:bodyPr>
          <a:lstStyle/>
          <a:p>
            <a:pPr algn="l">
              <a:defRPr sz="1600"/>
            </a:pPr>
            <a:r>
              <a:rPr sz="1200" dirty="0"/>
              <a:t>1. Eye Aspect Ratio (EAR) for Blink Detection:</a:t>
            </a:r>
            <a:br>
              <a:rPr sz="1200" dirty="0"/>
            </a:br>
            <a:r>
              <a:rPr sz="1200" dirty="0"/>
              <a:t>Used to calculate Mb (Blink Modifier) for fatigue tracking.</a:t>
            </a:r>
            <a:br>
              <a:rPr sz="1200" dirty="0"/>
            </a:br>
            <a:r>
              <a:rPr sz="1200" dirty="0"/>
              <a:t>• Formula: EAR = (||p_2 - p_6|| + ||p_3 - p_5||) / (2 ||p_1 - p_4||)</a:t>
            </a:r>
            <a:br>
              <a:rPr sz="1200" dirty="0"/>
            </a:br>
            <a:r>
              <a:rPr sz="1200" dirty="0"/>
              <a:t>• Where: p_1, p_4 are horizontal eye landmarks; p_2, p_3, p_5, p_6 are vertical eye landmarks.</a:t>
            </a:r>
            <a:br>
              <a:rPr sz="1200" dirty="0"/>
            </a:br>
            <a:br>
              <a:rPr sz="1200" dirty="0"/>
            </a:br>
            <a:r>
              <a:rPr sz="1200" dirty="0"/>
              <a:t>2. Head Pose Estimation (Perspective-n-Point / PnP):</a:t>
            </a:r>
            <a:br>
              <a:rPr sz="1200" dirty="0"/>
            </a:br>
            <a:r>
              <a:rPr sz="1200" dirty="0"/>
              <a:t>Used to map 3D face model points to 2D image coordinates to find Pitch (θ), Yaw (φ), and Roll (ψ).</a:t>
            </a:r>
            <a:br>
              <a:rPr sz="1200" dirty="0"/>
            </a:br>
            <a:r>
              <a:rPr sz="1200" dirty="0"/>
              <a:t>• Formula: s </a:t>
            </a:r>
            <a:r>
              <a:rPr sz="1200" dirty="0" err="1"/>
              <a:t>p_c</a:t>
            </a:r>
            <a:r>
              <a:rPr sz="1200" dirty="0"/>
              <a:t> = K [R | t] </a:t>
            </a:r>
            <a:r>
              <a:rPr sz="1200" dirty="0" err="1"/>
              <a:t>P_w</a:t>
            </a:r>
            <a:br>
              <a:rPr sz="1200" dirty="0"/>
            </a:br>
            <a:r>
              <a:rPr sz="1200" dirty="0"/>
              <a:t>• Where:</a:t>
            </a:r>
            <a:br>
              <a:rPr sz="1200" dirty="0"/>
            </a:br>
            <a:r>
              <a:rPr sz="1200" dirty="0"/>
              <a:t>   s = scale factor</a:t>
            </a:r>
            <a:br>
              <a:rPr sz="1200" dirty="0"/>
            </a:br>
            <a:r>
              <a:rPr sz="1200" dirty="0"/>
              <a:t>   </a:t>
            </a:r>
            <a:r>
              <a:rPr sz="1200" dirty="0" err="1"/>
              <a:t>p_c</a:t>
            </a:r>
            <a:r>
              <a:rPr sz="1200" dirty="0"/>
              <a:t> = 2D image coordinates</a:t>
            </a:r>
            <a:br>
              <a:rPr sz="1200" dirty="0"/>
            </a:br>
            <a:r>
              <a:rPr sz="1200" dirty="0"/>
              <a:t>   K = Camera Intrinsic Matrix</a:t>
            </a:r>
            <a:br>
              <a:rPr sz="1200" dirty="0"/>
            </a:br>
            <a:r>
              <a:rPr sz="1200" dirty="0"/>
              <a:t>   [R | t] = Rotation and Translation matrix</a:t>
            </a:r>
            <a:br>
              <a:rPr sz="1200" dirty="0"/>
            </a:br>
            <a:r>
              <a:rPr sz="1200" dirty="0"/>
              <a:t>   </a:t>
            </a:r>
            <a:r>
              <a:rPr sz="1200" dirty="0" err="1"/>
              <a:t>P_w</a:t>
            </a:r>
            <a:r>
              <a:rPr sz="1200" dirty="0"/>
              <a:t> = 3D World coordinates</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203073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Mathematical</a:t>
            </a:r>
            <a:r>
              <a:rPr sz="1400" spc="170" dirty="0">
                <a:solidFill>
                  <a:srgbClr val="FFFFFF"/>
                </a:solidFill>
                <a:latin typeface="Arial MT"/>
                <a:cs typeface="Arial MT"/>
              </a:rPr>
              <a:t> </a:t>
            </a:r>
            <a:r>
              <a:rPr sz="1400" spc="-10" dirty="0">
                <a:solidFill>
                  <a:srgbClr val="FFFFFF"/>
                </a:solidFill>
                <a:latin typeface="Arial MT"/>
                <a:cs typeface="Arial MT"/>
              </a:rPr>
              <a:t>Model(2/2)</a:t>
            </a:r>
            <a:endParaRPr sz="1400">
              <a:latin typeface="Arial MT"/>
              <a:cs typeface="Arial MT"/>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11</a:t>
            </a:fld>
            <a:r>
              <a:rPr spc="-70" dirty="0"/>
              <a:t> </a:t>
            </a:r>
            <a:r>
              <a:rPr dirty="0"/>
              <a:t>/</a:t>
            </a:r>
            <a:r>
              <a:rPr spc="-65" dirty="0"/>
              <a:t> </a:t>
            </a:r>
            <a:r>
              <a:rPr lang="en-IN" spc="-25" dirty="0"/>
              <a:t>24</a:t>
            </a:r>
            <a:endParaRPr spc="-25" dirty="0"/>
          </a:p>
        </p:txBody>
      </p:sp>
      <p:sp>
        <p:nvSpPr>
          <p:cNvPr id="14" name="TextBox 13"/>
          <p:cNvSpPr txBox="1"/>
          <p:nvPr/>
        </p:nvSpPr>
        <p:spPr>
          <a:xfrm>
            <a:off x="-36100" y="367510"/>
            <a:ext cx="4608195" cy="1938992"/>
          </a:xfrm>
          <a:prstGeom prst="rect">
            <a:avLst/>
          </a:prstGeom>
          <a:noFill/>
        </p:spPr>
        <p:txBody>
          <a:bodyPr wrap="square">
            <a:spAutoFit/>
          </a:bodyPr>
          <a:lstStyle/>
          <a:p>
            <a:pPr algn="l">
              <a:defRPr sz="1600"/>
            </a:pPr>
            <a:r>
              <a:rPr sz="1200" dirty="0"/>
              <a:t>3. Total Engagement / Focus Score (E):</a:t>
            </a:r>
            <a:br>
              <a:rPr sz="1200" dirty="0"/>
            </a:br>
            <a:r>
              <a:rPr sz="1200" dirty="0"/>
              <a:t>Calculated on a scale of 0 to 100.</a:t>
            </a:r>
            <a:br>
              <a:rPr sz="1200" dirty="0"/>
            </a:br>
            <a:r>
              <a:rPr sz="1200" dirty="0"/>
              <a:t>• Formula: E = max(0, min(100, </a:t>
            </a:r>
            <a:r>
              <a:rPr sz="1200" dirty="0" err="1"/>
              <a:t>B_e</a:t>
            </a:r>
            <a:r>
              <a:rPr sz="1200" dirty="0"/>
              <a:t> - </a:t>
            </a:r>
            <a:r>
              <a:rPr sz="1200" dirty="0" err="1"/>
              <a:t>P_h</a:t>
            </a:r>
            <a:r>
              <a:rPr sz="1200" dirty="0"/>
              <a:t> + </a:t>
            </a:r>
            <a:r>
              <a:rPr sz="1200" dirty="0" err="1"/>
              <a:t>M_b</a:t>
            </a:r>
            <a:r>
              <a:rPr sz="1200" dirty="0"/>
              <a:t>))</a:t>
            </a:r>
            <a:br>
              <a:rPr sz="1200" dirty="0"/>
            </a:br>
            <a:r>
              <a:rPr sz="1200" dirty="0"/>
              <a:t>• Where:</a:t>
            </a:r>
            <a:br>
              <a:rPr sz="1200" dirty="0"/>
            </a:br>
            <a:r>
              <a:rPr sz="1200" dirty="0"/>
              <a:t>   </a:t>
            </a:r>
            <a:r>
              <a:rPr sz="1200" dirty="0" err="1"/>
              <a:t>B_e</a:t>
            </a:r>
            <a:r>
              <a:rPr sz="1200" dirty="0"/>
              <a:t> (Base Emotion Score): 85-95 for Happy/Surprise, 65-80 for Neutral, 30-50 for Negative.</a:t>
            </a:r>
            <a:br>
              <a:rPr sz="1200" dirty="0"/>
            </a:br>
            <a:r>
              <a:rPr sz="1200" dirty="0"/>
              <a:t>   </a:t>
            </a:r>
            <a:r>
              <a:rPr sz="1200" dirty="0" err="1"/>
              <a:t>P_h</a:t>
            </a:r>
            <a:r>
              <a:rPr sz="1200" dirty="0"/>
              <a:t> (Head Pose Penalty): -30 IF |φ| &gt; 30° OR |θ| &gt; 30° (Looking away).</a:t>
            </a:r>
            <a:br>
              <a:rPr sz="1200" dirty="0"/>
            </a:br>
            <a:r>
              <a:rPr sz="1200" dirty="0"/>
              <a:t>   </a:t>
            </a:r>
            <a:r>
              <a:rPr sz="1200" dirty="0" err="1"/>
              <a:t>M_b</a:t>
            </a:r>
            <a:r>
              <a:rPr sz="1200" dirty="0"/>
              <a:t> (Blink Modifier): -15 if blink rate &gt; 35 (Fatigued), +10 if blink rate &lt; 5 (Intense focus).</a:t>
            </a: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p:cNvSpPr txBox="1"/>
          <p:nvPr/>
        </p:nvSpPr>
        <p:spPr>
          <a:xfrm>
            <a:off x="95300" y="45565"/>
            <a:ext cx="362966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Features-</a:t>
            </a:r>
            <a:r>
              <a:rPr sz="1400" spc="55" dirty="0">
                <a:solidFill>
                  <a:srgbClr val="FFFFFF"/>
                </a:solidFill>
                <a:latin typeface="Arial MT"/>
                <a:cs typeface="Arial MT"/>
              </a:rPr>
              <a:t> </a:t>
            </a:r>
            <a:r>
              <a:rPr sz="1400" dirty="0">
                <a:solidFill>
                  <a:srgbClr val="FFFFFF"/>
                </a:solidFill>
                <a:latin typeface="Arial MT"/>
                <a:cs typeface="Arial MT"/>
              </a:rPr>
              <a:t>(Functionality,</a:t>
            </a:r>
            <a:r>
              <a:rPr sz="1400" spc="60" dirty="0">
                <a:solidFill>
                  <a:srgbClr val="FFFFFF"/>
                </a:solidFill>
                <a:latin typeface="Arial MT"/>
                <a:cs typeface="Arial MT"/>
              </a:rPr>
              <a:t> </a:t>
            </a:r>
            <a:r>
              <a:rPr sz="1400" dirty="0">
                <a:solidFill>
                  <a:srgbClr val="FFFFFF"/>
                </a:solidFill>
                <a:latin typeface="Arial MT"/>
                <a:cs typeface="Arial MT"/>
              </a:rPr>
              <a:t>details</a:t>
            </a:r>
            <a:r>
              <a:rPr sz="1400" spc="60" dirty="0">
                <a:solidFill>
                  <a:srgbClr val="FFFFFF"/>
                </a:solidFill>
                <a:latin typeface="Arial MT"/>
                <a:cs typeface="Arial MT"/>
              </a:rPr>
              <a:t> </a:t>
            </a:r>
            <a:r>
              <a:rPr sz="1400" dirty="0">
                <a:solidFill>
                  <a:srgbClr val="FFFFFF"/>
                </a:solidFill>
                <a:latin typeface="Arial MT"/>
                <a:cs typeface="Arial MT"/>
              </a:rPr>
              <a:t>of</a:t>
            </a:r>
            <a:r>
              <a:rPr sz="1400" spc="60" dirty="0">
                <a:solidFill>
                  <a:srgbClr val="FFFFFF"/>
                </a:solidFill>
                <a:latin typeface="Arial MT"/>
                <a:cs typeface="Arial MT"/>
              </a:rPr>
              <a:t> </a:t>
            </a:r>
            <a:r>
              <a:rPr sz="1400" spc="-10" dirty="0">
                <a:solidFill>
                  <a:srgbClr val="FFFFFF"/>
                </a:solidFill>
                <a:latin typeface="Arial MT"/>
                <a:cs typeface="Arial MT"/>
              </a:rPr>
              <a:t>Algorithm)</a:t>
            </a:r>
            <a:endParaRPr sz="1400" dirty="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Text Placeholder 12">
            <a:extLst>
              <a:ext uri="{FF2B5EF4-FFF2-40B4-BE49-F238E27FC236}">
                <a16:creationId xmlns:a16="http://schemas.microsoft.com/office/drawing/2014/main" id="{33EF02D6-2150-242D-4598-384836C4C701}"/>
              </a:ext>
            </a:extLst>
          </p:cNvPr>
          <p:cNvSpPr>
            <a:spLocks noGrp="1"/>
          </p:cNvSpPr>
          <p:nvPr>
            <p:ph type="body" idx="1"/>
          </p:nvPr>
        </p:nvSpPr>
        <p:spPr>
          <a:xfrm>
            <a:off x="111569" y="444840"/>
            <a:ext cx="4356735" cy="2631490"/>
          </a:xfrm>
        </p:spPr>
        <p:txBody>
          <a:bodyPr/>
          <a:lstStyle/>
          <a:p>
            <a:pPr algn="l"/>
            <a:r>
              <a:rPr lang="en-US" sz="900" b="1" dirty="0">
                <a:cs typeface="Times New Roman" panose="02020603050405020304" pitchFamily="18" charset="0"/>
              </a:rPr>
              <a:t>A. Initialization</a:t>
            </a:r>
          </a:p>
          <a:p>
            <a:pPr algn="l"/>
            <a:r>
              <a:rPr lang="en-US" sz="900" dirty="0">
                <a:cs typeface="Times New Roman" panose="02020603050405020304" pitchFamily="18" charset="0"/>
              </a:rPr>
              <a:t>• Initialize webcam, frame capture rate (1 FPS), and load the CNN model._x000B_• Load the self-trained ResNet18 model for emotion detection._x000B_Model Initialization:_x000B_Model = ResNet18(weights = FER2013)</a:t>
            </a:r>
            <a:br>
              <a:rPr lang="en-US" sz="900" dirty="0">
                <a:cs typeface="Times New Roman" panose="02020603050405020304" pitchFamily="18" charset="0"/>
              </a:rPr>
            </a:br>
            <a:br>
              <a:rPr lang="en-US" sz="900" dirty="0">
                <a:cs typeface="Times New Roman" panose="02020603050405020304" pitchFamily="18" charset="0"/>
              </a:rPr>
            </a:br>
            <a:br>
              <a:rPr lang="en-US" sz="900" dirty="0">
                <a:cs typeface="Times New Roman" panose="02020603050405020304" pitchFamily="18" charset="0"/>
              </a:rPr>
            </a:br>
            <a:endParaRPr lang="en-US" sz="900" dirty="0">
              <a:cs typeface="Times New Roman" panose="02020603050405020304" pitchFamily="18" charset="0"/>
            </a:endParaRPr>
          </a:p>
          <a:p>
            <a:pPr algn="l"/>
            <a:endParaRPr lang="en-US" sz="900" b="1" dirty="0">
              <a:cs typeface="Times New Roman" panose="02020603050405020304" pitchFamily="18" charset="0"/>
            </a:endParaRPr>
          </a:p>
          <a:p>
            <a:pPr algn="l"/>
            <a:r>
              <a:rPr lang="en-US" sz="900" b="1" dirty="0">
                <a:cs typeface="Times New Roman" panose="02020603050405020304" pitchFamily="18" charset="0"/>
              </a:rPr>
              <a:t>B. Video Frame Acquisition</a:t>
            </a:r>
          </a:p>
          <a:p>
            <a:pPr algn="l"/>
            <a:r>
              <a:rPr lang="en-US" sz="900" dirty="0">
                <a:cs typeface="Times New Roman" panose="02020603050405020304" pitchFamily="18" charset="0"/>
              </a:rPr>
              <a:t>• Capture real-time video using OpenCV:</a:t>
            </a:r>
            <a:br>
              <a:rPr lang="en-US" sz="900" dirty="0">
                <a:cs typeface="Times New Roman" panose="02020603050405020304" pitchFamily="18" charset="0"/>
              </a:rPr>
            </a:br>
            <a:r>
              <a:rPr lang="en-US" sz="900" b="1" dirty="0">
                <a:cs typeface="Times New Roman" panose="02020603050405020304" pitchFamily="18" charset="0"/>
              </a:rPr>
              <a:t>cap = cv2.VideoCapture(0)</a:t>
            </a:r>
            <a:br>
              <a:rPr lang="en-US" sz="900" dirty="0">
                <a:cs typeface="Times New Roman" panose="02020603050405020304" pitchFamily="18" charset="0"/>
              </a:rPr>
            </a:br>
            <a:r>
              <a:rPr lang="en-US" sz="900" dirty="0">
                <a:cs typeface="Times New Roman" panose="02020603050405020304" pitchFamily="18" charset="0"/>
              </a:rPr>
              <a:t>• Extract frames at fixed intervals:</a:t>
            </a:r>
            <a:br>
              <a:rPr lang="en-US" sz="900" dirty="0">
                <a:cs typeface="Times New Roman" panose="02020603050405020304" pitchFamily="18" charset="0"/>
              </a:rPr>
            </a:br>
            <a:r>
              <a:rPr lang="en-US" sz="900" b="1" dirty="0">
                <a:cs typeface="Times New Roman" panose="02020603050405020304" pitchFamily="18" charset="0"/>
              </a:rPr>
              <a:t>fₜ = V(t), where t = 1, 2, 3…</a:t>
            </a:r>
            <a:endParaRPr lang="en-US" sz="900" dirty="0">
              <a:cs typeface="Times New Roman" panose="02020603050405020304" pitchFamily="18" charset="0"/>
            </a:endParaRPr>
          </a:p>
          <a:p>
            <a:pPr algn="l"/>
            <a:endParaRPr lang="en-US" sz="900" dirty="0">
              <a:cs typeface="Times New Roman" panose="02020603050405020304" pitchFamily="18" charset="0"/>
            </a:endParaRPr>
          </a:p>
          <a:p>
            <a:pPr algn="l"/>
            <a:r>
              <a:rPr lang="en-US" sz="900" b="1" dirty="0">
                <a:cs typeface="Times New Roman" panose="02020603050405020304" pitchFamily="18" charset="0"/>
              </a:rPr>
              <a:t>C. Face Detection</a:t>
            </a:r>
          </a:p>
          <a:p>
            <a:pPr algn="l"/>
            <a:r>
              <a:rPr lang="en-US" sz="900" dirty="0">
                <a:cs typeface="Times New Roman" panose="02020603050405020304" pitchFamily="18" charset="0"/>
              </a:rPr>
              <a:t>• Detect face in every frame using </a:t>
            </a:r>
            <a:r>
              <a:rPr lang="en-US" sz="900" dirty="0" err="1">
                <a:cs typeface="Times New Roman" panose="02020603050405020304" pitchFamily="18" charset="0"/>
              </a:rPr>
              <a:t>MediaPipe</a:t>
            </a:r>
            <a:r>
              <a:rPr lang="en-US" sz="900" dirty="0">
                <a:cs typeface="Times New Roman" panose="02020603050405020304" pitchFamily="18" charset="0"/>
              </a:rPr>
              <a:t> or Haar Cascade:</a:t>
            </a:r>
            <a:br>
              <a:rPr lang="en-US" sz="900" dirty="0">
                <a:cs typeface="Times New Roman" panose="02020603050405020304" pitchFamily="18" charset="0"/>
              </a:rPr>
            </a:br>
            <a:r>
              <a:rPr lang="en-US" sz="900" b="1" dirty="0">
                <a:cs typeface="Times New Roman" panose="02020603050405020304" pitchFamily="18" charset="0"/>
              </a:rPr>
              <a:t>(x, y, w, h) = </a:t>
            </a:r>
            <a:r>
              <a:rPr lang="en-US" sz="900" b="1" dirty="0" err="1">
                <a:cs typeface="Times New Roman" panose="02020603050405020304" pitchFamily="18" charset="0"/>
              </a:rPr>
              <a:t>FaceDetector</a:t>
            </a:r>
            <a:r>
              <a:rPr lang="en-US" sz="900" b="1" dirty="0">
                <a:cs typeface="Times New Roman" panose="02020603050405020304" pitchFamily="18" charset="0"/>
              </a:rPr>
              <a:t>(fₜ)</a:t>
            </a:r>
            <a:br>
              <a:rPr lang="en-US" sz="900" dirty="0">
                <a:cs typeface="Times New Roman" panose="02020603050405020304" pitchFamily="18" charset="0"/>
              </a:rPr>
            </a:br>
            <a:r>
              <a:rPr lang="en-US" sz="900" dirty="0">
                <a:cs typeface="Times New Roman" panose="02020603050405020304" pitchFamily="18" charset="0"/>
              </a:rPr>
              <a:t>• Crop and resize face region to </a:t>
            </a:r>
            <a:r>
              <a:rPr lang="en-US" sz="900" b="1" dirty="0">
                <a:cs typeface="Times New Roman" panose="02020603050405020304" pitchFamily="18" charset="0"/>
              </a:rPr>
              <a:t>96x96 pixels</a:t>
            </a:r>
            <a:r>
              <a:rPr lang="en-US" sz="900" dirty="0">
                <a:cs typeface="Times New Roman" panose="02020603050405020304" pitchFamily="18" charset="0"/>
              </a:rPr>
              <a:t>:</a:t>
            </a:r>
            <a:br>
              <a:rPr lang="en-US" sz="900" dirty="0">
                <a:cs typeface="Times New Roman" panose="02020603050405020304" pitchFamily="18" charset="0"/>
              </a:rPr>
            </a:br>
            <a:r>
              <a:rPr lang="en-US" sz="900" b="1" dirty="0">
                <a:cs typeface="Times New Roman" panose="02020603050405020304" pitchFamily="18" charset="0"/>
              </a:rPr>
              <a:t>I′ = resize(</a:t>
            </a:r>
            <a:r>
              <a:rPr lang="en-US" sz="900" b="1" dirty="0" err="1">
                <a:cs typeface="Times New Roman" panose="02020603050405020304" pitchFamily="18" charset="0"/>
              </a:rPr>
              <a:t>I_face</a:t>
            </a:r>
            <a:r>
              <a:rPr lang="en-US" sz="900" b="1" dirty="0">
                <a:cs typeface="Times New Roman" panose="02020603050405020304" pitchFamily="18" charset="0"/>
              </a:rPr>
              <a:t>, (48,48))</a:t>
            </a:r>
            <a:endParaRPr lang="en-US" sz="900" dirty="0">
              <a:cs typeface="Times New Roman" panose="02020603050405020304" pitchFamily="18" charset="0"/>
            </a:endParaRPr>
          </a:p>
          <a:p>
            <a:pPr algn="l"/>
            <a:endParaRPr lang="en-US" sz="900" dirty="0">
              <a:cs typeface="Times New Roman" panose="02020603050405020304" pitchFamily="18" charset="0"/>
            </a:endParaRPr>
          </a:p>
          <a:p>
            <a:pPr algn="l"/>
            <a:endParaRPr lang="en-US" sz="900" dirty="0">
              <a:cs typeface="Times New Roman" panose="02020603050405020304" pitchFamily="18" charset="0"/>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p:cNvSpPr txBox="1">
            <a:spLocks noGrp="1"/>
          </p:cNvSpPr>
          <p:nvPr>
            <p:ph type="dt" sz="half" idx="6"/>
          </p:nvPr>
        </p:nvSpPr>
        <p:spPr>
          <a:xfrm>
            <a:off x="3371851" y="3331252"/>
            <a:ext cx="6602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12</a:t>
            </a:fld>
            <a:r>
              <a:rPr spc="-70" dirty="0"/>
              <a:t> </a:t>
            </a:r>
            <a:r>
              <a:rPr dirty="0"/>
              <a:t>/</a:t>
            </a:r>
            <a:r>
              <a:rPr spc="-65" dirty="0"/>
              <a:t> </a:t>
            </a:r>
            <a:r>
              <a:rPr lang="en-IN" spc="-25" dirty="0"/>
              <a:t>24</a:t>
            </a:r>
            <a:endParaRPr spc="-25" dirty="0"/>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CC311-C998-A8CD-3B4A-95D25C45F2C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51DF78A-7A23-4C57-1663-28201495DEA5}"/>
              </a:ext>
            </a:extLst>
          </p:cNvPr>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a:extLst>
              <a:ext uri="{FF2B5EF4-FFF2-40B4-BE49-F238E27FC236}">
                <a16:creationId xmlns:a16="http://schemas.microsoft.com/office/drawing/2014/main" id="{D5A1DE76-DA4D-3D26-74FB-09A76F85DF24}"/>
              </a:ext>
            </a:extLst>
          </p:cNvPr>
          <p:cNvSpPr txBox="1"/>
          <p:nvPr/>
        </p:nvSpPr>
        <p:spPr>
          <a:xfrm>
            <a:off x="95300" y="45565"/>
            <a:ext cx="362966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Features-</a:t>
            </a:r>
            <a:r>
              <a:rPr sz="1400" spc="55" dirty="0">
                <a:solidFill>
                  <a:srgbClr val="FFFFFF"/>
                </a:solidFill>
                <a:latin typeface="Arial MT"/>
                <a:cs typeface="Arial MT"/>
              </a:rPr>
              <a:t> </a:t>
            </a:r>
            <a:r>
              <a:rPr sz="1400" dirty="0">
                <a:solidFill>
                  <a:srgbClr val="FFFFFF"/>
                </a:solidFill>
                <a:latin typeface="Arial MT"/>
                <a:cs typeface="Arial MT"/>
              </a:rPr>
              <a:t>(Functionality,</a:t>
            </a:r>
            <a:r>
              <a:rPr sz="1400" spc="60" dirty="0">
                <a:solidFill>
                  <a:srgbClr val="FFFFFF"/>
                </a:solidFill>
                <a:latin typeface="Arial MT"/>
                <a:cs typeface="Arial MT"/>
              </a:rPr>
              <a:t> </a:t>
            </a:r>
            <a:r>
              <a:rPr sz="1400" dirty="0">
                <a:solidFill>
                  <a:srgbClr val="FFFFFF"/>
                </a:solidFill>
                <a:latin typeface="Arial MT"/>
                <a:cs typeface="Arial MT"/>
              </a:rPr>
              <a:t>details</a:t>
            </a:r>
            <a:r>
              <a:rPr sz="1400" spc="60" dirty="0">
                <a:solidFill>
                  <a:srgbClr val="FFFFFF"/>
                </a:solidFill>
                <a:latin typeface="Arial MT"/>
                <a:cs typeface="Arial MT"/>
              </a:rPr>
              <a:t> </a:t>
            </a:r>
            <a:r>
              <a:rPr sz="1400" dirty="0">
                <a:solidFill>
                  <a:srgbClr val="FFFFFF"/>
                </a:solidFill>
                <a:latin typeface="Arial MT"/>
                <a:cs typeface="Arial MT"/>
              </a:rPr>
              <a:t>of</a:t>
            </a:r>
            <a:r>
              <a:rPr sz="1400" spc="60" dirty="0">
                <a:solidFill>
                  <a:srgbClr val="FFFFFF"/>
                </a:solidFill>
                <a:latin typeface="Arial MT"/>
                <a:cs typeface="Arial MT"/>
              </a:rPr>
              <a:t> </a:t>
            </a:r>
            <a:r>
              <a:rPr sz="1400" spc="-10" dirty="0">
                <a:solidFill>
                  <a:srgbClr val="FFFFFF"/>
                </a:solidFill>
                <a:latin typeface="Arial MT"/>
                <a:cs typeface="Arial MT"/>
              </a:rPr>
              <a:t>Algorithm)</a:t>
            </a:r>
            <a:endParaRPr sz="1400" dirty="0">
              <a:latin typeface="Arial MT"/>
              <a:cs typeface="Arial MT"/>
            </a:endParaRPr>
          </a:p>
        </p:txBody>
      </p:sp>
      <p:grpSp>
        <p:nvGrpSpPr>
          <p:cNvPr id="4" name="object 4">
            <a:extLst>
              <a:ext uri="{FF2B5EF4-FFF2-40B4-BE49-F238E27FC236}">
                <a16:creationId xmlns:a16="http://schemas.microsoft.com/office/drawing/2014/main" id="{E2B2CF35-306E-6429-4850-6ACAB0EA1F4A}"/>
              </a:ext>
            </a:extLst>
          </p:cNvPr>
          <p:cNvGrpSpPr/>
          <p:nvPr/>
        </p:nvGrpSpPr>
        <p:grpSpPr>
          <a:xfrm>
            <a:off x="0" y="3326968"/>
            <a:ext cx="4608195" cy="129539"/>
            <a:chOff x="0" y="3326968"/>
            <a:chExt cx="4608195" cy="129539"/>
          </a:xfrm>
        </p:grpSpPr>
        <p:sp>
          <p:nvSpPr>
            <p:cNvPr id="5" name="object 5">
              <a:extLst>
                <a:ext uri="{FF2B5EF4-FFF2-40B4-BE49-F238E27FC236}">
                  <a16:creationId xmlns:a16="http://schemas.microsoft.com/office/drawing/2014/main" id="{080E68A0-85B0-1779-370C-E9D0E3F724C7}"/>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a:extLst>
                <a:ext uri="{FF2B5EF4-FFF2-40B4-BE49-F238E27FC236}">
                  <a16:creationId xmlns:a16="http://schemas.microsoft.com/office/drawing/2014/main" id="{93AA08AF-64A1-58C7-526B-B82B4F5395F3}"/>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a:extLst>
                <a:ext uri="{FF2B5EF4-FFF2-40B4-BE49-F238E27FC236}">
                  <a16:creationId xmlns:a16="http://schemas.microsoft.com/office/drawing/2014/main" id="{34FA9986-E313-DA26-E2DC-436D9D9F285D}"/>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Text Placeholder 12">
            <a:extLst>
              <a:ext uri="{FF2B5EF4-FFF2-40B4-BE49-F238E27FC236}">
                <a16:creationId xmlns:a16="http://schemas.microsoft.com/office/drawing/2014/main" id="{EC3CAD45-CBBB-2D58-1D30-0BFC19C9CA2A}"/>
              </a:ext>
            </a:extLst>
          </p:cNvPr>
          <p:cNvSpPr>
            <a:spLocks noGrp="1"/>
          </p:cNvSpPr>
          <p:nvPr>
            <p:ph type="body" idx="1"/>
          </p:nvPr>
        </p:nvSpPr>
        <p:spPr>
          <a:xfrm>
            <a:off x="106339" y="321934"/>
            <a:ext cx="4435522" cy="3046988"/>
          </a:xfrm>
        </p:spPr>
        <p:txBody>
          <a:bodyPr/>
          <a:lstStyle/>
          <a:p>
            <a:r>
              <a:rPr lang="en-US" sz="900" b="1" dirty="0">
                <a:cs typeface="Times New Roman" panose="02020603050405020304" pitchFamily="18" charset="0"/>
              </a:rPr>
              <a:t>D. Preprocessing</a:t>
            </a:r>
          </a:p>
          <a:p>
            <a:r>
              <a:rPr lang="en-US" sz="900" dirty="0">
                <a:cs typeface="Times New Roman" panose="02020603050405020304" pitchFamily="18" charset="0"/>
              </a:rPr>
              <a:t>• Convert cropped face to grayscale and normalize pixel values (0–1):</a:t>
            </a:r>
            <a:br>
              <a:rPr lang="en-US" sz="900" dirty="0">
                <a:cs typeface="Times New Roman" panose="02020603050405020304" pitchFamily="18" charset="0"/>
              </a:rPr>
            </a:br>
            <a:r>
              <a:rPr lang="en-US" sz="900" b="1" dirty="0" err="1">
                <a:cs typeface="Times New Roman" panose="02020603050405020304" pitchFamily="18" charset="0"/>
              </a:rPr>
              <a:t>I_norm</a:t>
            </a:r>
            <a:r>
              <a:rPr lang="en-US" sz="900" b="1" dirty="0">
                <a:cs typeface="Times New Roman" panose="02020603050405020304" pitchFamily="18" charset="0"/>
              </a:rPr>
              <a:t> = I′ / 255</a:t>
            </a:r>
            <a:br>
              <a:rPr lang="en-US" sz="900" dirty="0">
                <a:cs typeface="Times New Roman" panose="02020603050405020304" pitchFamily="18" charset="0"/>
              </a:rPr>
            </a:br>
            <a:r>
              <a:rPr lang="en-US" sz="900" dirty="0">
                <a:cs typeface="Times New Roman" panose="02020603050405020304" pitchFamily="18" charset="0"/>
              </a:rPr>
              <a:t>• Reshape image tensor for CNN:</a:t>
            </a:r>
            <a:br>
              <a:rPr lang="en-US" sz="900" dirty="0">
                <a:cs typeface="Times New Roman" panose="02020603050405020304" pitchFamily="18" charset="0"/>
              </a:rPr>
            </a:br>
            <a:r>
              <a:rPr lang="en-US" sz="900" b="1" dirty="0" err="1">
                <a:cs typeface="Times New Roman" panose="02020603050405020304" pitchFamily="18" charset="0"/>
              </a:rPr>
              <a:t>I_input</a:t>
            </a:r>
            <a:r>
              <a:rPr lang="en-US" sz="900" b="1" dirty="0">
                <a:cs typeface="Times New Roman" panose="02020603050405020304" pitchFamily="18" charset="0"/>
              </a:rPr>
              <a:t> = </a:t>
            </a:r>
            <a:r>
              <a:rPr lang="en-US" sz="900" b="1" dirty="0" err="1">
                <a:cs typeface="Times New Roman" panose="02020603050405020304" pitchFamily="18" charset="0"/>
              </a:rPr>
              <a:t>I_norm.reshape</a:t>
            </a:r>
            <a:r>
              <a:rPr lang="en-US" sz="900" b="1" dirty="0">
                <a:cs typeface="Times New Roman" panose="02020603050405020304" pitchFamily="18" charset="0"/>
              </a:rPr>
              <a:t>(1, 96, 96, 3)</a:t>
            </a:r>
            <a:endParaRPr lang="en-US" sz="900" dirty="0">
              <a:cs typeface="Times New Roman" panose="02020603050405020304" pitchFamily="18" charset="0"/>
            </a:endParaRPr>
          </a:p>
          <a:p>
            <a:endParaRPr lang="en-US" sz="900" b="1" dirty="0">
              <a:cs typeface="Times New Roman" panose="02020603050405020304" pitchFamily="18" charset="0"/>
            </a:endParaRPr>
          </a:p>
          <a:p>
            <a:r>
              <a:rPr lang="en-US" sz="900" b="1" dirty="0">
                <a:cs typeface="Times New Roman" panose="02020603050405020304" pitchFamily="18" charset="0"/>
              </a:rPr>
              <a:t>E. Emotion Recognition (ResNet18 CNN)</a:t>
            </a:r>
          </a:p>
          <a:p>
            <a:r>
              <a:rPr lang="en-US" sz="900" dirty="0">
                <a:cs typeface="Times New Roman" panose="02020603050405020304" pitchFamily="18" charset="0"/>
              </a:rPr>
              <a:t>• Pass normalized face to the ResNet18 model for classification._x000B_• CNN performs convolution, ReLU, batch normalization, GAP, and softmax.</a:t>
            </a:r>
            <a:br>
              <a:rPr lang="en-US" sz="900" dirty="0">
                <a:cs typeface="Times New Roman" panose="02020603050405020304" pitchFamily="18" charset="0"/>
              </a:rPr>
            </a:br>
            <a:endParaRPr lang="en-US" sz="900" dirty="0">
              <a:cs typeface="Times New Roman" panose="02020603050405020304" pitchFamily="18" charset="0"/>
            </a:endParaRPr>
          </a:p>
          <a:p>
            <a:r>
              <a:rPr lang="en-US" sz="900" b="1" dirty="0">
                <a:cs typeface="Times New Roman" panose="02020603050405020304" pitchFamily="18" charset="0"/>
              </a:rPr>
              <a:t>Mathematical Model:</a:t>
            </a:r>
            <a:br>
              <a:rPr lang="en-US" sz="900" dirty="0">
                <a:cs typeface="Times New Roman" panose="02020603050405020304" pitchFamily="18" charset="0"/>
              </a:rPr>
            </a:br>
            <a:r>
              <a:rPr lang="en-US" sz="900" b="1" dirty="0">
                <a:cs typeface="Times New Roman" panose="02020603050405020304" pitchFamily="18" charset="0"/>
              </a:rPr>
              <a:t>O = </a:t>
            </a:r>
            <a:r>
              <a:rPr lang="en-US" sz="900" b="1" dirty="0" err="1">
                <a:cs typeface="Times New Roman" panose="02020603050405020304" pitchFamily="18" charset="0"/>
              </a:rPr>
              <a:t>Softmax</a:t>
            </a:r>
            <a:r>
              <a:rPr lang="en-US" sz="900" b="1" dirty="0">
                <a:cs typeface="Times New Roman" panose="02020603050405020304" pitchFamily="18" charset="0"/>
              </a:rPr>
              <a:t>(Wₙ * fₙ₋₁ + bₙ)</a:t>
            </a:r>
            <a:endParaRPr lang="en-US" sz="900" dirty="0">
              <a:cs typeface="Times New Roman" panose="02020603050405020304" pitchFamily="18" charset="0"/>
            </a:endParaRPr>
          </a:p>
          <a:p>
            <a:r>
              <a:rPr lang="en-US" sz="900" b="1" dirty="0">
                <a:cs typeface="Times New Roman" panose="02020603050405020304" pitchFamily="18" charset="0"/>
              </a:rPr>
              <a:t>Predicted Emotion:</a:t>
            </a:r>
            <a:br>
              <a:rPr lang="en-US" sz="900" dirty="0">
                <a:cs typeface="Times New Roman" panose="02020603050405020304" pitchFamily="18" charset="0"/>
              </a:rPr>
            </a:br>
            <a:r>
              <a:rPr lang="en-US" sz="900" b="1" dirty="0">
                <a:cs typeface="Times New Roman" panose="02020603050405020304" pitchFamily="18" charset="0"/>
              </a:rPr>
              <a:t>Emotion = argmax(O)</a:t>
            </a:r>
          </a:p>
          <a:p>
            <a:endParaRPr lang="en-US" sz="900" dirty="0">
              <a:cs typeface="Times New Roman" panose="02020603050405020304" pitchFamily="18" charset="0"/>
            </a:endParaRPr>
          </a:p>
          <a:p>
            <a:r>
              <a:rPr lang="en-US" sz="900" b="1" dirty="0">
                <a:cs typeface="Times New Roman" panose="02020603050405020304" pitchFamily="18" charset="0"/>
              </a:rPr>
              <a:t>F. Fatigue Detection</a:t>
            </a:r>
          </a:p>
          <a:p>
            <a:r>
              <a:rPr lang="en-US" sz="900" dirty="0">
                <a:cs typeface="Times New Roman" panose="02020603050405020304" pitchFamily="18" charset="0"/>
              </a:rPr>
              <a:t>• Maintain sliding window of recent emotions:</a:t>
            </a:r>
            <a:br>
              <a:rPr lang="en-US" sz="900" dirty="0">
                <a:cs typeface="Times New Roman" panose="02020603050405020304" pitchFamily="18" charset="0"/>
              </a:rPr>
            </a:br>
            <a:r>
              <a:rPr lang="en-US" sz="900" b="1" dirty="0">
                <a:cs typeface="Times New Roman" panose="02020603050405020304" pitchFamily="18" charset="0"/>
              </a:rPr>
              <a:t>E = [e₁, e₂, …, eₙ]</a:t>
            </a:r>
            <a:br>
              <a:rPr lang="en-US" sz="900" dirty="0">
                <a:cs typeface="Times New Roman" panose="02020603050405020304" pitchFamily="18" charset="0"/>
              </a:rPr>
            </a:br>
            <a:r>
              <a:rPr lang="en-US" sz="900" dirty="0">
                <a:cs typeface="Times New Roman" panose="02020603050405020304" pitchFamily="18" charset="0"/>
              </a:rPr>
              <a:t>• Compute fatigue score:</a:t>
            </a:r>
            <a:br>
              <a:rPr lang="en-US" sz="900" dirty="0">
                <a:cs typeface="Times New Roman" panose="02020603050405020304" pitchFamily="18" charset="0"/>
              </a:rPr>
            </a:br>
            <a:r>
              <a:rPr lang="en-US" sz="900" b="1" dirty="0">
                <a:cs typeface="Times New Roman" panose="02020603050405020304" pitchFamily="18" charset="0"/>
              </a:rPr>
              <a:t>F = Count(negative + neutral) / Count(total)</a:t>
            </a:r>
            <a:br>
              <a:rPr lang="en-US" sz="900" dirty="0">
                <a:cs typeface="Times New Roman" panose="02020603050405020304" pitchFamily="18" charset="0"/>
              </a:rPr>
            </a:br>
            <a:r>
              <a:rPr lang="en-US" sz="900" dirty="0">
                <a:cs typeface="Times New Roman" panose="02020603050405020304" pitchFamily="18" charset="0"/>
              </a:rPr>
              <a:t>• If </a:t>
            </a:r>
            <a:r>
              <a:rPr lang="en-US" sz="900" b="1" dirty="0">
                <a:cs typeface="Times New Roman" panose="02020603050405020304" pitchFamily="18" charset="0"/>
              </a:rPr>
              <a:t>F ≥ 0.6 → Fatigue Detected</a:t>
            </a:r>
            <a:endParaRPr lang="en-US" sz="900" dirty="0">
              <a:cs typeface="Times New Roman" panose="02020603050405020304" pitchFamily="18" charset="0"/>
            </a:endParaRPr>
          </a:p>
          <a:p>
            <a:endParaRPr lang="en-US" sz="900" dirty="0">
              <a:cs typeface="Times New Roman" panose="02020603050405020304" pitchFamily="18" charset="0"/>
            </a:endParaRPr>
          </a:p>
          <a:p>
            <a:endParaRPr lang="en-US" sz="900" dirty="0">
              <a:cs typeface="Times New Roman" panose="02020603050405020304" pitchFamily="18" charset="0"/>
            </a:endParaRPr>
          </a:p>
        </p:txBody>
      </p:sp>
      <p:sp>
        <p:nvSpPr>
          <p:cNvPr id="8" name="object 8">
            <a:extLst>
              <a:ext uri="{FF2B5EF4-FFF2-40B4-BE49-F238E27FC236}">
                <a16:creationId xmlns:a16="http://schemas.microsoft.com/office/drawing/2014/main" id="{321C29F8-115F-1FA6-54AB-2F33C546DF72}"/>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a:extLst>
              <a:ext uri="{FF2B5EF4-FFF2-40B4-BE49-F238E27FC236}">
                <a16:creationId xmlns:a16="http://schemas.microsoft.com/office/drawing/2014/main" id="{4B898516-A983-6B8E-99B4-79C4943AC5BA}"/>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a:extLst>
              <a:ext uri="{FF2B5EF4-FFF2-40B4-BE49-F238E27FC236}">
                <a16:creationId xmlns:a16="http://schemas.microsoft.com/office/drawing/2014/main" id="{C86BBE20-1CAB-9058-CB9E-AAB4FE65F177}"/>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13</a:t>
            </a:fld>
            <a:r>
              <a:rPr spc="-70" dirty="0"/>
              <a:t> </a:t>
            </a:r>
            <a:r>
              <a:rPr dirty="0"/>
              <a:t>/</a:t>
            </a:r>
            <a:r>
              <a:rPr spc="-65" dirty="0"/>
              <a:t> </a:t>
            </a:r>
            <a:r>
              <a:rPr lang="en-IN" spc="-25" dirty="0"/>
              <a:t>24</a:t>
            </a:r>
            <a:endParaRPr spc="-25" dirty="0"/>
          </a:p>
        </p:txBody>
      </p:sp>
      <p:sp>
        <p:nvSpPr>
          <p:cNvPr id="9" name="object 9">
            <a:extLst>
              <a:ext uri="{FF2B5EF4-FFF2-40B4-BE49-F238E27FC236}">
                <a16:creationId xmlns:a16="http://schemas.microsoft.com/office/drawing/2014/main" id="{94249E86-6170-EED8-1D29-64CC06E20DFC}"/>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Tree>
    <p:extLst>
      <p:ext uri="{BB962C8B-B14F-4D97-AF65-F5344CB8AC3E}">
        <p14:creationId xmlns:p14="http://schemas.microsoft.com/office/powerpoint/2010/main" val="4178894310"/>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B1F98-D053-943C-203D-09DB5F16A63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1784A07-35CD-526D-8FEA-204BD65B4D9A}"/>
              </a:ext>
            </a:extLst>
          </p:cNvPr>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a:extLst>
              <a:ext uri="{FF2B5EF4-FFF2-40B4-BE49-F238E27FC236}">
                <a16:creationId xmlns:a16="http://schemas.microsoft.com/office/drawing/2014/main" id="{143B907C-ED73-81B0-D4C6-F2871A29F64B}"/>
              </a:ext>
            </a:extLst>
          </p:cNvPr>
          <p:cNvSpPr txBox="1"/>
          <p:nvPr/>
        </p:nvSpPr>
        <p:spPr>
          <a:xfrm>
            <a:off x="95300" y="45565"/>
            <a:ext cx="362966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Features-</a:t>
            </a:r>
            <a:r>
              <a:rPr sz="1400" spc="55" dirty="0">
                <a:solidFill>
                  <a:srgbClr val="FFFFFF"/>
                </a:solidFill>
                <a:latin typeface="Arial MT"/>
                <a:cs typeface="Arial MT"/>
              </a:rPr>
              <a:t> </a:t>
            </a:r>
            <a:r>
              <a:rPr sz="1400" dirty="0">
                <a:solidFill>
                  <a:srgbClr val="FFFFFF"/>
                </a:solidFill>
                <a:latin typeface="Arial MT"/>
                <a:cs typeface="Arial MT"/>
              </a:rPr>
              <a:t>(Functionality,</a:t>
            </a:r>
            <a:r>
              <a:rPr sz="1400" spc="60" dirty="0">
                <a:solidFill>
                  <a:srgbClr val="FFFFFF"/>
                </a:solidFill>
                <a:latin typeface="Arial MT"/>
                <a:cs typeface="Arial MT"/>
              </a:rPr>
              <a:t> </a:t>
            </a:r>
            <a:r>
              <a:rPr sz="1400" dirty="0">
                <a:solidFill>
                  <a:srgbClr val="FFFFFF"/>
                </a:solidFill>
                <a:latin typeface="Arial MT"/>
                <a:cs typeface="Arial MT"/>
              </a:rPr>
              <a:t>details</a:t>
            </a:r>
            <a:r>
              <a:rPr sz="1400" spc="60" dirty="0">
                <a:solidFill>
                  <a:srgbClr val="FFFFFF"/>
                </a:solidFill>
                <a:latin typeface="Arial MT"/>
                <a:cs typeface="Arial MT"/>
              </a:rPr>
              <a:t> </a:t>
            </a:r>
            <a:r>
              <a:rPr sz="1400" dirty="0">
                <a:solidFill>
                  <a:srgbClr val="FFFFFF"/>
                </a:solidFill>
                <a:latin typeface="Arial MT"/>
                <a:cs typeface="Arial MT"/>
              </a:rPr>
              <a:t>of</a:t>
            </a:r>
            <a:r>
              <a:rPr sz="1400" spc="60" dirty="0">
                <a:solidFill>
                  <a:srgbClr val="FFFFFF"/>
                </a:solidFill>
                <a:latin typeface="Arial MT"/>
                <a:cs typeface="Arial MT"/>
              </a:rPr>
              <a:t> </a:t>
            </a:r>
            <a:r>
              <a:rPr sz="1400" spc="-10" dirty="0">
                <a:solidFill>
                  <a:srgbClr val="FFFFFF"/>
                </a:solidFill>
                <a:latin typeface="Arial MT"/>
                <a:cs typeface="Arial MT"/>
              </a:rPr>
              <a:t>Algorithm)</a:t>
            </a:r>
            <a:endParaRPr sz="1400" dirty="0">
              <a:latin typeface="Arial MT"/>
              <a:cs typeface="Arial MT"/>
            </a:endParaRPr>
          </a:p>
        </p:txBody>
      </p:sp>
      <p:grpSp>
        <p:nvGrpSpPr>
          <p:cNvPr id="4" name="object 4">
            <a:extLst>
              <a:ext uri="{FF2B5EF4-FFF2-40B4-BE49-F238E27FC236}">
                <a16:creationId xmlns:a16="http://schemas.microsoft.com/office/drawing/2014/main" id="{4A672E42-57EB-8A47-3994-92D6CE6AAEAF}"/>
              </a:ext>
            </a:extLst>
          </p:cNvPr>
          <p:cNvGrpSpPr/>
          <p:nvPr/>
        </p:nvGrpSpPr>
        <p:grpSpPr>
          <a:xfrm>
            <a:off x="0" y="3326968"/>
            <a:ext cx="4608195" cy="129539"/>
            <a:chOff x="0" y="3326968"/>
            <a:chExt cx="4608195" cy="129539"/>
          </a:xfrm>
        </p:grpSpPr>
        <p:sp>
          <p:nvSpPr>
            <p:cNvPr id="5" name="object 5">
              <a:extLst>
                <a:ext uri="{FF2B5EF4-FFF2-40B4-BE49-F238E27FC236}">
                  <a16:creationId xmlns:a16="http://schemas.microsoft.com/office/drawing/2014/main" id="{2EAE89B9-ED38-67FA-7685-082245B89172}"/>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a:extLst>
                <a:ext uri="{FF2B5EF4-FFF2-40B4-BE49-F238E27FC236}">
                  <a16:creationId xmlns:a16="http://schemas.microsoft.com/office/drawing/2014/main" id="{72F7A40E-08EB-2272-2C78-BDB8613379F8}"/>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a:extLst>
                <a:ext uri="{FF2B5EF4-FFF2-40B4-BE49-F238E27FC236}">
                  <a16:creationId xmlns:a16="http://schemas.microsoft.com/office/drawing/2014/main" id="{BC74524C-288C-7312-9581-7E74B77BFF98}"/>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Text Placeholder 12">
            <a:extLst>
              <a:ext uri="{FF2B5EF4-FFF2-40B4-BE49-F238E27FC236}">
                <a16:creationId xmlns:a16="http://schemas.microsoft.com/office/drawing/2014/main" id="{0371C39C-27DD-C269-9CDA-3183D0BB1FD6}"/>
              </a:ext>
            </a:extLst>
          </p:cNvPr>
          <p:cNvSpPr>
            <a:spLocks noGrp="1"/>
          </p:cNvSpPr>
          <p:nvPr>
            <p:ph type="body" idx="1"/>
          </p:nvPr>
        </p:nvSpPr>
        <p:spPr>
          <a:xfrm>
            <a:off x="106339" y="321934"/>
            <a:ext cx="4435522" cy="2215991"/>
          </a:xfrm>
        </p:spPr>
        <p:txBody>
          <a:bodyPr/>
          <a:lstStyle/>
          <a:p>
            <a:r>
              <a:rPr lang="en-US" sz="900" b="1" dirty="0">
                <a:cs typeface="Times New Roman" panose="02020603050405020304" pitchFamily="18" charset="0"/>
              </a:rPr>
              <a:t>G. Suggestion Module</a:t>
            </a:r>
          </a:p>
          <a:p>
            <a:r>
              <a:rPr lang="en-US" sz="900" dirty="0">
                <a:cs typeface="Times New Roman" panose="02020603050405020304" pitchFamily="18" charset="0"/>
              </a:rPr>
              <a:t>• When fatigue is detected, trigger context-aware suggestions:</a:t>
            </a:r>
            <a:br>
              <a:rPr lang="en-US" sz="900" dirty="0">
                <a:cs typeface="Times New Roman" panose="02020603050405020304" pitchFamily="18" charset="0"/>
              </a:rPr>
            </a:br>
            <a:r>
              <a:rPr lang="en-US" sz="900" dirty="0">
                <a:cs typeface="Times New Roman" panose="02020603050405020304" pitchFamily="18" charset="0"/>
              </a:rPr>
              <a:t>– “Take a short break”</a:t>
            </a:r>
            <a:br>
              <a:rPr lang="en-US" sz="900" dirty="0">
                <a:cs typeface="Times New Roman" panose="02020603050405020304" pitchFamily="18" charset="0"/>
              </a:rPr>
            </a:br>
            <a:r>
              <a:rPr lang="en-US" sz="900" dirty="0">
                <a:cs typeface="Times New Roman" panose="02020603050405020304" pitchFamily="18" charset="0"/>
              </a:rPr>
              <a:t>– “Stretch for a minute”</a:t>
            </a:r>
            <a:br>
              <a:rPr lang="en-US" sz="900" dirty="0">
                <a:cs typeface="Times New Roman" panose="02020603050405020304" pitchFamily="18" charset="0"/>
              </a:rPr>
            </a:br>
            <a:r>
              <a:rPr lang="en-US" sz="900" dirty="0">
                <a:cs typeface="Times New Roman" panose="02020603050405020304" pitchFamily="18" charset="0"/>
              </a:rPr>
              <a:t>– “Drink some water”</a:t>
            </a:r>
            <a:br>
              <a:rPr lang="en-US" sz="900" dirty="0">
                <a:cs typeface="Times New Roman" panose="02020603050405020304" pitchFamily="18" charset="0"/>
              </a:rPr>
            </a:br>
            <a:r>
              <a:rPr lang="en-US" sz="900" dirty="0">
                <a:cs typeface="Times New Roman" panose="02020603050405020304" pitchFamily="18" charset="0"/>
              </a:rPr>
              <a:t>• Rule-based implementation:</a:t>
            </a:r>
            <a:br>
              <a:rPr lang="en-US" sz="900" dirty="0">
                <a:cs typeface="Times New Roman" panose="02020603050405020304" pitchFamily="18" charset="0"/>
              </a:rPr>
            </a:br>
            <a:r>
              <a:rPr lang="en-US" sz="900" b="1" dirty="0">
                <a:cs typeface="Times New Roman" panose="02020603050405020304" pitchFamily="18" charset="0"/>
              </a:rPr>
              <a:t>If (F ≥ threshold): Suggestion = S(F)</a:t>
            </a:r>
            <a:endParaRPr lang="en-US" sz="900" dirty="0">
              <a:cs typeface="Times New Roman" panose="02020603050405020304" pitchFamily="18" charset="0"/>
            </a:endParaRPr>
          </a:p>
          <a:p>
            <a:endParaRPr lang="en-US" sz="900" b="1" dirty="0">
              <a:cs typeface="Times New Roman" panose="02020603050405020304" pitchFamily="18" charset="0"/>
            </a:endParaRPr>
          </a:p>
          <a:p>
            <a:r>
              <a:rPr lang="en-US" sz="900" b="1" dirty="0">
                <a:cs typeface="Times New Roman" panose="02020603050405020304" pitchFamily="18" charset="0"/>
              </a:rPr>
              <a:t>H. Dashboard Visualization</a:t>
            </a:r>
          </a:p>
          <a:p>
            <a:r>
              <a:rPr lang="en-US" sz="900" dirty="0">
                <a:cs typeface="Times New Roman" panose="02020603050405020304" pitchFamily="18" charset="0"/>
              </a:rPr>
              <a:t>• Store session data (time, emotion, fatigue score) in database.</a:t>
            </a:r>
            <a:br>
              <a:rPr lang="en-US" sz="900" dirty="0">
                <a:cs typeface="Times New Roman" panose="02020603050405020304" pitchFamily="18" charset="0"/>
              </a:rPr>
            </a:br>
            <a:r>
              <a:rPr lang="en-US" sz="900" dirty="0">
                <a:cs typeface="Times New Roman" panose="02020603050405020304" pitchFamily="18" charset="0"/>
              </a:rPr>
              <a:t>• Use </a:t>
            </a:r>
            <a:r>
              <a:rPr lang="en-US" sz="900" dirty="0" err="1">
                <a:cs typeface="Times New Roman" panose="02020603050405020304" pitchFamily="18" charset="0"/>
              </a:rPr>
              <a:t>React</a:t>
            </a:r>
            <a:r>
              <a:rPr lang="en-US" sz="900" dirty="0">
                <a:cs typeface="Times New Roman" panose="02020603050405020304" pitchFamily="18" charset="0"/>
              </a:rPr>
              <a:t> to display:</a:t>
            </a:r>
            <a:br>
              <a:rPr lang="en-US" sz="900" dirty="0">
                <a:cs typeface="Times New Roman" panose="02020603050405020304" pitchFamily="18" charset="0"/>
              </a:rPr>
            </a:br>
            <a:r>
              <a:rPr lang="en-US" sz="900" dirty="0">
                <a:cs typeface="Times New Roman" panose="02020603050405020304" pitchFamily="18" charset="0"/>
              </a:rPr>
              <a:t>– Emotion distribution (pie chart)</a:t>
            </a:r>
            <a:br>
              <a:rPr lang="en-US" sz="900" dirty="0">
                <a:cs typeface="Times New Roman" panose="02020603050405020304" pitchFamily="18" charset="0"/>
              </a:rPr>
            </a:br>
            <a:r>
              <a:rPr lang="en-US" sz="900" dirty="0">
                <a:cs typeface="Times New Roman" panose="02020603050405020304" pitchFamily="18" charset="0"/>
              </a:rPr>
              <a:t>– Fatigue level over time (line chart)</a:t>
            </a:r>
            <a:br>
              <a:rPr lang="en-US" sz="900" dirty="0">
                <a:cs typeface="Times New Roman" panose="02020603050405020304" pitchFamily="18" charset="0"/>
              </a:rPr>
            </a:br>
            <a:r>
              <a:rPr lang="en-US" sz="900" dirty="0">
                <a:cs typeface="Times New Roman" panose="02020603050405020304" pitchFamily="18" charset="0"/>
              </a:rPr>
              <a:t>– Session summary and analytics</a:t>
            </a:r>
          </a:p>
          <a:p>
            <a:endParaRPr lang="en-US" sz="900" dirty="0">
              <a:cs typeface="Times New Roman" panose="02020603050405020304" pitchFamily="18" charset="0"/>
            </a:endParaRPr>
          </a:p>
          <a:p>
            <a:endParaRPr lang="en-US" sz="900" dirty="0">
              <a:cs typeface="Times New Roman" panose="02020603050405020304" pitchFamily="18" charset="0"/>
            </a:endParaRPr>
          </a:p>
        </p:txBody>
      </p:sp>
      <p:sp>
        <p:nvSpPr>
          <p:cNvPr id="8" name="object 8">
            <a:extLst>
              <a:ext uri="{FF2B5EF4-FFF2-40B4-BE49-F238E27FC236}">
                <a16:creationId xmlns:a16="http://schemas.microsoft.com/office/drawing/2014/main" id="{AC083DDF-1C3E-0802-7945-38A722E4E886}"/>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a:extLst>
              <a:ext uri="{FF2B5EF4-FFF2-40B4-BE49-F238E27FC236}">
                <a16:creationId xmlns:a16="http://schemas.microsoft.com/office/drawing/2014/main" id="{230018F7-9094-8A42-3A71-AC7A42F1E54B}"/>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a:extLst>
              <a:ext uri="{FF2B5EF4-FFF2-40B4-BE49-F238E27FC236}">
                <a16:creationId xmlns:a16="http://schemas.microsoft.com/office/drawing/2014/main" id="{2498FE61-DD6A-779D-F968-9D7F7B3E60DD}"/>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14</a:t>
            </a:fld>
            <a:r>
              <a:rPr spc="-70" dirty="0"/>
              <a:t> </a:t>
            </a:r>
            <a:r>
              <a:rPr dirty="0"/>
              <a:t>/</a:t>
            </a:r>
            <a:r>
              <a:rPr spc="-65" dirty="0"/>
              <a:t> </a:t>
            </a:r>
            <a:r>
              <a:rPr lang="en-IN" spc="-25" dirty="0"/>
              <a:t>24</a:t>
            </a:r>
            <a:endParaRPr spc="-25" dirty="0"/>
          </a:p>
        </p:txBody>
      </p:sp>
      <p:sp>
        <p:nvSpPr>
          <p:cNvPr id="9" name="object 9">
            <a:extLst>
              <a:ext uri="{FF2B5EF4-FFF2-40B4-BE49-F238E27FC236}">
                <a16:creationId xmlns:a16="http://schemas.microsoft.com/office/drawing/2014/main" id="{107AEBEB-17DB-3D75-A6FB-44F7764F6522}"/>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Tree>
    <p:extLst>
      <p:ext uri="{BB962C8B-B14F-4D97-AF65-F5344CB8AC3E}">
        <p14:creationId xmlns:p14="http://schemas.microsoft.com/office/powerpoint/2010/main" val="1639152270"/>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98628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Use</a:t>
            </a:r>
            <a:r>
              <a:rPr sz="1400" spc="60" dirty="0">
                <a:solidFill>
                  <a:srgbClr val="FFFFFF"/>
                </a:solidFill>
                <a:latin typeface="Arial MT"/>
                <a:cs typeface="Arial MT"/>
              </a:rPr>
              <a:t> </a:t>
            </a:r>
            <a:r>
              <a:rPr sz="1400" dirty="0">
                <a:solidFill>
                  <a:srgbClr val="FFFFFF"/>
                </a:solidFill>
                <a:latin typeface="Arial MT"/>
                <a:cs typeface="Arial MT"/>
              </a:rPr>
              <a:t>Case</a:t>
            </a:r>
            <a:r>
              <a:rPr sz="1400" spc="65" dirty="0">
                <a:solidFill>
                  <a:srgbClr val="FFFFFF"/>
                </a:solidFill>
                <a:latin typeface="Arial MT"/>
                <a:cs typeface="Arial MT"/>
              </a:rPr>
              <a:t> </a:t>
            </a:r>
            <a:r>
              <a:rPr sz="1400" spc="-10" dirty="0">
                <a:solidFill>
                  <a:srgbClr val="FFFFFF"/>
                </a:solidFill>
                <a:latin typeface="Arial MT"/>
                <a:cs typeface="Arial MT"/>
              </a:rPr>
              <a:t>Diagram/DFD</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371851" y="3331252"/>
            <a:ext cx="6602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15</a:t>
            </a:fld>
            <a:r>
              <a:rPr spc="-70" dirty="0"/>
              <a:t> </a:t>
            </a:r>
            <a:r>
              <a:rPr dirty="0"/>
              <a:t>/</a:t>
            </a:r>
            <a:r>
              <a:rPr spc="-65" dirty="0"/>
              <a:t> </a:t>
            </a:r>
            <a:r>
              <a:rPr lang="en-IN" spc="-25" dirty="0"/>
              <a:t>24</a:t>
            </a:r>
            <a:endParaRPr spc="-25" dirty="0"/>
          </a:p>
        </p:txBody>
      </p:sp>
      <p:pic>
        <p:nvPicPr>
          <p:cNvPr id="12" name="Picture 11">
            <a:extLst>
              <a:ext uri="{FF2B5EF4-FFF2-40B4-BE49-F238E27FC236}">
                <a16:creationId xmlns:a16="http://schemas.microsoft.com/office/drawing/2014/main" id="{0C0034D8-5FCB-A490-A218-EFE0028A5D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50" y="433257"/>
            <a:ext cx="4179861" cy="2821118"/>
          </a:xfrm>
          <a:prstGeom prst="rect">
            <a:avLst/>
          </a:prstGeom>
        </p:spPr>
      </p:pic>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64147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Class</a:t>
            </a:r>
            <a:r>
              <a:rPr sz="1400" spc="75" dirty="0">
                <a:solidFill>
                  <a:srgbClr val="FFFFFF"/>
                </a:solidFill>
                <a:latin typeface="Arial MT"/>
                <a:cs typeface="Arial MT"/>
              </a:rPr>
              <a:t> </a:t>
            </a:r>
            <a:r>
              <a:rPr sz="1400" spc="-10" dirty="0">
                <a:solidFill>
                  <a:srgbClr val="FFFFFF"/>
                </a:solidFill>
                <a:latin typeface="Arial MT"/>
                <a:cs typeface="Arial MT"/>
              </a:rPr>
              <a:t>Diagram/DFD</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16</a:t>
            </a:fld>
            <a:r>
              <a:rPr spc="-70" dirty="0"/>
              <a:t> </a:t>
            </a:r>
            <a:r>
              <a:rPr dirty="0"/>
              <a:t>/</a:t>
            </a:r>
            <a:r>
              <a:rPr spc="-65" dirty="0"/>
              <a:t> </a:t>
            </a:r>
            <a:r>
              <a:rPr lang="en-IN" spc="-25" dirty="0"/>
              <a:t>24</a:t>
            </a:r>
            <a:endParaRPr spc="-25" dirty="0"/>
          </a:p>
        </p:txBody>
      </p:sp>
      <p:pic>
        <p:nvPicPr>
          <p:cNvPr id="12" name="Image 13">
            <a:extLst>
              <a:ext uri="{FF2B5EF4-FFF2-40B4-BE49-F238E27FC236}">
                <a16:creationId xmlns:a16="http://schemas.microsoft.com/office/drawing/2014/main" id="{698FBB97-5FE9-CD4E-B238-4DBE8F1A1CDB}"/>
              </a:ext>
            </a:extLst>
          </p:cNvPr>
          <p:cNvPicPr>
            <a:picLocks/>
          </p:cNvPicPr>
          <p:nvPr/>
        </p:nvPicPr>
        <p:blipFill>
          <a:blip r:embed="rId3" cstate="print"/>
          <a:stretch>
            <a:fillRect/>
          </a:stretch>
        </p:blipFill>
        <p:spPr>
          <a:xfrm>
            <a:off x="646430" y="358775"/>
            <a:ext cx="3317240" cy="2797810"/>
          </a:xfrm>
          <a:prstGeom prst="rect">
            <a:avLst/>
          </a:prstGeom>
        </p:spPr>
      </p:pic>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45565"/>
            <a:ext cx="180784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System</a:t>
            </a:r>
            <a:r>
              <a:rPr sz="1400" spc="95" dirty="0">
                <a:solidFill>
                  <a:srgbClr val="FFFFFF"/>
                </a:solidFill>
                <a:latin typeface="Arial MT"/>
                <a:cs typeface="Arial MT"/>
              </a:rPr>
              <a:t> </a:t>
            </a:r>
            <a:r>
              <a:rPr sz="1400" spc="-10" dirty="0">
                <a:solidFill>
                  <a:srgbClr val="FFFFFF"/>
                </a:solidFill>
                <a:latin typeface="Arial MT"/>
                <a:cs typeface="Arial MT"/>
              </a:rPr>
              <a:t>Specifications</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17</a:t>
            </a:fld>
            <a:r>
              <a:rPr spc="-70" dirty="0"/>
              <a:t> </a:t>
            </a:r>
            <a:r>
              <a:rPr dirty="0"/>
              <a:t>/</a:t>
            </a:r>
            <a:r>
              <a:rPr spc="-65" dirty="0"/>
              <a:t> </a:t>
            </a:r>
            <a:r>
              <a:rPr lang="en-IN" spc="-25" dirty="0"/>
              <a:t>24</a:t>
            </a:r>
            <a:endParaRPr spc="-25" dirty="0"/>
          </a:p>
        </p:txBody>
      </p:sp>
      <p:sp>
        <p:nvSpPr>
          <p:cNvPr id="18" name="TextBox 17">
            <a:extLst>
              <a:ext uri="{FF2B5EF4-FFF2-40B4-BE49-F238E27FC236}">
                <a16:creationId xmlns:a16="http://schemas.microsoft.com/office/drawing/2014/main" id="{DF113CB8-9AB5-022B-3DD9-945049760DDA}"/>
              </a:ext>
            </a:extLst>
          </p:cNvPr>
          <p:cNvSpPr txBox="1"/>
          <p:nvPr/>
        </p:nvSpPr>
        <p:spPr>
          <a:xfrm>
            <a:off x="-1" y="358775"/>
            <a:ext cx="4608017" cy="2631490"/>
          </a:xfrm>
          <a:prstGeom prst="rect">
            <a:avLst/>
          </a:prstGeom>
          <a:noFill/>
        </p:spPr>
        <p:txBody>
          <a:bodyPr wrap="square">
            <a:spAutoFit/>
          </a:bodyPr>
          <a:lstStyle/>
          <a:p>
            <a:pPr marR="152400">
              <a:spcBef>
                <a:spcPts val="305"/>
              </a:spcBef>
              <a:buNone/>
            </a:pPr>
            <a:r>
              <a:rPr lang="en-US" sz="1100" dirty="0">
                <a:effectLst/>
                <a:latin typeface="Arial MT"/>
                <a:ea typeface="Arial MT"/>
                <a:cs typeface="Times New Roman" panose="02020603050405020304" pitchFamily="18" charset="0"/>
              </a:rPr>
              <a:t> </a:t>
            </a:r>
            <a:endParaRPr lang="en-IN" sz="1100" dirty="0">
              <a:effectLst/>
              <a:latin typeface="Arial MT"/>
              <a:ea typeface="Arial MT"/>
              <a:cs typeface="Times New Roman" panose="02020603050405020304" pitchFamily="18" charset="0"/>
            </a:endParaRPr>
          </a:p>
          <a:p>
            <a:pPr marL="228600" marR="152400">
              <a:buNone/>
            </a:pPr>
            <a:r>
              <a:rPr lang="en-IN" sz="1100" b="1" dirty="0">
                <a:effectLst/>
                <a:latin typeface="Arial MT"/>
                <a:ea typeface="Arial MT"/>
                <a:cs typeface="Times New Roman" panose="02020603050405020304" pitchFamily="18" charset="0"/>
              </a:rPr>
              <a:t>Software Requirements:</a:t>
            </a:r>
            <a:endParaRPr lang="en-IN" sz="1100" dirty="0">
              <a:effectLst/>
              <a:latin typeface="Arial MT"/>
              <a:ea typeface="Arial MT"/>
              <a:cs typeface="Times New Roman" panose="02020603050405020304" pitchFamily="18" charset="0"/>
            </a:endParaRPr>
          </a:p>
          <a:p>
            <a:pPr marL="228600" marR="152400">
              <a:buNone/>
            </a:pPr>
            <a:r>
              <a:rPr lang="en-IN" sz="1100" dirty="0">
                <a:effectLst/>
                <a:latin typeface="Arial MT"/>
                <a:ea typeface="Arial MT"/>
                <a:cs typeface="Times New Roman" panose="02020603050405020304" pitchFamily="18" charset="0"/>
              </a:rPr>
              <a:t> </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Operating System:</a:t>
            </a:r>
            <a:r>
              <a:rPr lang="en-IN" sz="1100" dirty="0">
                <a:effectLst/>
                <a:latin typeface="Arial MT"/>
                <a:ea typeface="Arial MT"/>
                <a:cs typeface="Times New Roman" panose="02020603050405020304" pitchFamily="18" charset="0"/>
              </a:rPr>
              <a:t> Windows 10+, Ubuntu 22.04, or macOS</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Language:</a:t>
            </a:r>
            <a:r>
              <a:rPr lang="en-IN" sz="1100" dirty="0">
                <a:effectLst/>
                <a:latin typeface="Arial MT"/>
                <a:ea typeface="Arial MT"/>
                <a:cs typeface="Times New Roman" panose="02020603050405020304" pitchFamily="18" charset="0"/>
              </a:rPr>
              <a:t> Python 3.11+</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Libraries:</a:t>
            </a:r>
            <a:r>
              <a:rPr lang="en-IN" sz="1100" dirty="0">
                <a:effectLst/>
                <a:latin typeface="Arial MT"/>
                <a:ea typeface="Arial MT"/>
                <a:cs typeface="Times New Roman" panose="02020603050405020304" pitchFamily="18" charset="0"/>
              </a:rPr>
              <a:t> TensorFlow, Keras, OpenCV, MediaPipe, React, NumPy, Pandas</a:t>
            </a:r>
          </a:p>
          <a:p>
            <a:pPr marL="228600" marR="152400">
              <a:buNone/>
            </a:pPr>
            <a:r>
              <a:rPr lang="en-IN" sz="1100" dirty="0">
                <a:effectLst/>
                <a:latin typeface="Arial MT"/>
                <a:ea typeface="Arial MT"/>
                <a:cs typeface="Times New Roman" panose="02020603050405020304" pitchFamily="18" charset="0"/>
              </a:rPr>
              <a:t> </a:t>
            </a:r>
          </a:p>
          <a:p>
            <a:pPr marL="228600" marR="152400">
              <a:buNone/>
            </a:pPr>
            <a:r>
              <a:rPr lang="en-IN" sz="1100" b="1" dirty="0">
                <a:effectLst/>
                <a:latin typeface="Arial MT"/>
                <a:ea typeface="Arial MT"/>
                <a:cs typeface="Times New Roman" panose="02020603050405020304" pitchFamily="18" charset="0"/>
              </a:rPr>
              <a:t>Hardware Requirements:</a:t>
            </a:r>
            <a:endParaRPr lang="en-IN" sz="1100" dirty="0">
              <a:effectLst/>
              <a:latin typeface="Arial MT"/>
              <a:ea typeface="Arial MT"/>
              <a:cs typeface="Times New Roman" panose="02020603050405020304" pitchFamily="18" charset="0"/>
            </a:endParaRPr>
          </a:p>
          <a:p>
            <a:pPr marL="228600" marR="152400">
              <a:buNone/>
            </a:pPr>
            <a:r>
              <a:rPr lang="en-IN" sz="1100" dirty="0">
                <a:effectLst/>
                <a:latin typeface="Arial MT"/>
                <a:ea typeface="Arial MT"/>
                <a:cs typeface="Times New Roman" panose="02020603050405020304" pitchFamily="18" charset="0"/>
              </a:rPr>
              <a:t> </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Processor:</a:t>
            </a:r>
            <a:r>
              <a:rPr lang="en-IN" sz="1100" dirty="0">
                <a:effectLst/>
                <a:latin typeface="Arial MT"/>
                <a:ea typeface="Arial MT"/>
                <a:cs typeface="Times New Roman" panose="02020603050405020304" pitchFamily="18" charset="0"/>
              </a:rPr>
              <a:t> Intel i5 or higher (minimum 2.4 GHz)</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Memory:</a:t>
            </a:r>
            <a:r>
              <a:rPr lang="en-IN" sz="1100" dirty="0">
                <a:effectLst/>
                <a:latin typeface="Arial MT"/>
                <a:ea typeface="Arial MT"/>
                <a:cs typeface="Times New Roman" panose="02020603050405020304" pitchFamily="18" charset="0"/>
              </a:rPr>
              <a:t> 8 GB RAM minimum</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Webcam:</a:t>
            </a:r>
            <a:r>
              <a:rPr lang="en-IN" sz="1100" dirty="0">
                <a:effectLst/>
                <a:latin typeface="Arial MT"/>
                <a:ea typeface="Arial MT"/>
                <a:cs typeface="Times New Roman" panose="02020603050405020304" pitchFamily="18" charset="0"/>
              </a:rPr>
              <a:t> HD (720p or higher)</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Optional GPU:</a:t>
            </a:r>
            <a:r>
              <a:rPr lang="en-IN" sz="1100" dirty="0">
                <a:effectLst/>
                <a:latin typeface="Arial MT"/>
                <a:ea typeface="Arial MT"/>
                <a:cs typeface="Times New Roman" panose="02020603050405020304" pitchFamily="18" charset="0"/>
              </a:rPr>
              <a:t> NVIDIA GTX series or better (for faster processing)</a:t>
            </a: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Data</a:t>
            </a:r>
            <a:r>
              <a:rPr spc="60" dirty="0"/>
              <a:t> </a:t>
            </a:r>
            <a:r>
              <a:rPr spc="-20" dirty="0"/>
              <a:t>sets</a:t>
            </a:r>
          </a:p>
        </p:txBody>
      </p:sp>
      <p:pic>
        <p:nvPicPr>
          <p:cNvPr id="4" name="object 4"/>
          <p:cNvPicPr/>
          <p:nvPr/>
        </p:nvPicPr>
        <p:blipFill>
          <a:blip r:embed="rId2" cstate="print"/>
          <a:stretch>
            <a:fillRect/>
          </a:stretch>
        </p:blipFill>
        <p:spPr>
          <a:xfrm>
            <a:off x="269557" y="587597"/>
            <a:ext cx="76809" cy="76809"/>
          </a:xfrm>
          <a:prstGeom prst="rect">
            <a:avLst/>
          </a:prstGeom>
        </p:spPr>
      </p:pic>
      <p:sp>
        <p:nvSpPr>
          <p:cNvPr id="5" name="object 5"/>
          <p:cNvSpPr txBox="1"/>
          <p:nvPr/>
        </p:nvSpPr>
        <p:spPr>
          <a:xfrm>
            <a:off x="346366" y="511175"/>
            <a:ext cx="4079240" cy="1869101"/>
          </a:xfrm>
          <a:prstGeom prst="rect">
            <a:avLst/>
          </a:prstGeom>
        </p:spPr>
        <p:txBody>
          <a:bodyPr vert="horz" wrap="square" lIns="0" tIns="6985" rIns="0" bIns="0" rtlCol="0">
            <a:spAutoFit/>
          </a:bodyPr>
          <a:lstStyle/>
          <a:p>
            <a:r>
              <a:rPr lang="en-US" sz="1100" dirty="0">
                <a:latin typeface="Arial MT"/>
                <a:cs typeface="Times New Roman" panose="02020603050405020304" pitchFamily="18" charset="0"/>
              </a:rPr>
              <a:t>The dataset is downloaded from website:-</a:t>
            </a:r>
            <a:r>
              <a:rPr lang="en-US" sz="1100" dirty="0">
                <a:latin typeface="Arial MT"/>
                <a:cs typeface="Times New Roman" panose="02020603050405020304" pitchFamily="18" charset="0"/>
                <a:hlinkClick r:id="rId3"/>
              </a:rPr>
              <a:t>https://www.kaggle.com/datasets/msambare/fer2013</a:t>
            </a:r>
            <a:endParaRPr lang="en-US" sz="1100" dirty="0">
              <a:latin typeface="Arial MT"/>
              <a:cs typeface="Times New Roman" panose="02020603050405020304" pitchFamily="18" charset="0"/>
            </a:endParaRPr>
          </a:p>
          <a:p>
            <a:endParaRPr lang="en-US" sz="1100" dirty="0">
              <a:latin typeface="Arial MT"/>
              <a:cs typeface="Times New Roman" panose="02020603050405020304" pitchFamily="18" charset="0"/>
            </a:endParaRPr>
          </a:p>
          <a:p>
            <a:r>
              <a:rPr lang="en-US" sz="1100" dirty="0">
                <a:latin typeface="Arial MT"/>
                <a:cs typeface="Times New Roman" panose="02020603050405020304" pitchFamily="18" charset="0"/>
              </a:rPr>
              <a:t>FER-2013 contains 48×48 grayscale facial images with over 35,000 samples.</a:t>
            </a:r>
          </a:p>
          <a:p>
            <a:r>
              <a:rPr lang="en-US" sz="1100" dirty="0">
                <a:latin typeface="Arial MT"/>
                <a:cs typeface="Times New Roman" panose="02020603050405020304" pitchFamily="18" charset="0"/>
              </a:rPr>
              <a:t>Images are labeled into seven emotions: Angry, Disgust, Fear, Happy, Sad, Surprise, Neutral.</a:t>
            </a:r>
          </a:p>
          <a:p>
            <a:r>
              <a:rPr lang="en-US" sz="1100" dirty="0">
                <a:latin typeface="Arial MT"/>
                <a:cs typeface="Times New Roman" panose="02020603050405020304" pitchFamily="18" charset="0"/>
              </a:rPr>
              <a:t>Originally introduced for the Kaggle Facial Expression Recognition Challenge.</a:t>
            </a:r>
          </a:p>
          <a:p>
            <a:r>
              <a:rPr lang="en-US" sz="1100" dirty="0">
                <a:latin typeface="Arial MT"/>
                <a:cs typeface="Times New Roman" panose="02020603050405020304" pitchFamily="18" charset="0"/>
              </a:rPr>
              <a:t>Used in this project to train and validate the CNN-based emotion recognition model.</a:t>
            </a:r>
          </a:p>
        </p:txBody>
      </p:sp>
      <p:pic>
        <p:nvPicPr>
          <p:cNvPr id="6" name="object 6"/>
          <p:cNvPicPr/>
          <p:nvPr/>
        </p:nvPicPr>
        <p:blipFill>
          <a:blip r:embed="rId4" cstate="print"/>
          <a:stretch>
            <a:fillRect/>
          </a:stretch>
        </p:blipFill>
        <p:spPr>
          <a:xfrm>
            <a:off x="269557" y="1120775"/>
            <a:ext cx="76809" cy="76809"/>
          </a:xfrm>
          <a:prstGeom prst="rect">
            <a:avLst/>
          </a:prstGeom>
        </p:spPr>
      </p:pic>
      <p:grpSp>
        <p:nvGrpSpPr>
          <p:cNvPr id="7" name="object 7"/>
          <p:cNvGrpSpPr/>
          <p:nvPr/>
        </p:nvGrpSpPr>
        <p:grpSpPr>
          <a:xfrm>
            <a:off x="0" y="3326968"/>
            <a:ext cx="4608195" cy="129539"/>
            <a:chOff x="0" y="3326968"/>
            <a:chExt cx="4608195" cy="129539"/>
          </a:xfrm>
        </p:grpSpPr>
        <p:sp>
          <p:nvSpPr>
            <p:cNvPr id="8" name="object 8"/>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9" name="object 9"/>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0" name="object 10"/>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2" name="object 12"/>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3" name="object 13"/>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4" name="object 14"/>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18</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Expected</a:t>
            </a:r>
            <a:r>
              <a:rPr spc="120" dirty="0"/>
              <a:t> </a:t>
            </a:r>
            <a:r>
              <a:rPr spc="-10" dirty="0"/>
              <a:t>Result</a:t>
            </a:r>
          </a:p>
        </p:txBody>
      </p:sp>
      <p:pic>
        <p:nvPicPr>
          <p:cNvPr id="4" name="object 4"/>
          <p:cNvPicPr/>
          <p:nvPr/>
        </p:nvPicPr>
        <p:blipFill>
          <a:blip r:embed="rId2" cstate="print"/>
          <a:stretch>
            <a:fillRect/>
          </a:stretch>
        </p:blipFill>
        <p:spPr>
          <a:xfrm>
            <a:off x="247650" y="590548"/>
            <a:ext cx="76809" cy="76809"/>
          </a:xfrm>
          <a:prstGeom prst="rect">
            <a:avLst/>
          </a:prstGeom>
        </p:spPr>
      </p:pic>
      <p:sp>
        <p:nvSpPr>
          <p:cNvPr id="5" name="object 5"/>
          <p:cNvSpPr txBox="1"/>
          <p:nvPr/>
        </p:nvSpPr>
        <p:spPr>
          <a:xfrm>
            <a:off x="375967" y="511098"/>
            <a:ext cx="3872229" cy="2438553"/>
          </a:xfrm>
          <a:prstGeom prst="rect">
            <a:avLst/>
          </a:prstGeom>
        </p:spPr>
        <p:txBody>
          <a:bodyPr vert="horz" wrap="square" lIns="0" tIns="6985" rIns="0" bIns="0" rtlCol="0">
            <a:spAutoFit/>
          </a:bodyPr>
          <a:lstStyle/>
          <a:p>
            <a:pPr marL="13970">
              <a:lnSpc>
                <a:spcPct val="100000"/>
              </a:lnSpc>
              <a:spcBef>
                <a:spcPts val="100"/>
              </a:spcBef>
            </a:pPr>
            <a:r>
              <a:rPr lang="en-US" sz="1100" spc="-10" dirty="0">
                <a:latin typeface="Arial MT"/>
                <a:cs typeface="Times New Roman" panose="02020603050405020304" pitchFamily="18" charset="0"/>
              </a:rPr>
              <a:t>Real-</a:t>
            </a:r>
            <a:r>
              <a:rPr lang="en-US" sz="1100" dirty="0">
                <a:latin typeface="Arial MT"/>
                <a:cs typeface="Times New Roman" panose="02020603050405020304" pitchFamily="18" charset="0"/>
              </a:rPr>
              <a:t>Time</a:t>
            </a:r>
            <a:r>
              <a:rPr lang="en-US" sz="1100" spc="-35" dirty="0">
                <a:latin typeface="Arial MT"/>
                <a:cs typeface="Times New Roman" panose="02020603050405020304" pitchFamily="18" charset="0"/>
              </a:rPr>
              <a:t> </a:t>
            </a:r>
            <a:r>
              <a:rPr lang="en-US" sz="1100" dirty="0">
                <a:latin typeface="Arial MT"/>
                <a:cs typeface="Times New Roman" panose="02020603050405020304" pitchFamily="18" charset="0"/>
              </a:rPr>
              <a:t>Emotion</a:t>
            </a:r>
            <a:r>
              <a:rPr lang="en-US" sz="1100" spc="-25" dirty="0">
                <a:latin typeface="Arial MT"/>
                <a:cs typeface="Times New Roman" panose="02020603050405020304" pitchFamily="18" charset="0"/>
              </a:rPr>
              <a:t> </a:t>
            </a:r>
            <a:r>
              <a:rPr lang="en-US" sz="1100" spc="-10" dirty="0">
                <a:latin typeface="Arial MT"/>
                <a:cs typeface="Times New Roman" panose="02020603050405020304" pitchFamily="18" charset="0"/>
              </a:rPr>
              <a:t>Detection</a:t>
            </a:r>
            <a:endParaRPr lang="en-US" sz="1100" dirty="0">
              <a:latin typeface="Arial MT"/>
              <a:cs typeface="Times New Roman" panose="02020603050405020304" pitchFamily="18" charset="0"/>
            </a:endParaRPr>
          </a:p>
          <a:p>
            <a:pPr marL="13970" marR="581025">
              <a:lnSpc>
                <a:spcPct val="204599"/>
              </a:lnSpc>
              <a:spcBef>
                <a:spcPts val="5"/>
              </a:spcBef>
            </a:pPr>
            <a:r>
              <a:rPr lang="en-US" sz="1100" dirty="0">
                <a:latin typeface="Arial MT"/>
                <a:cs typeface="Times New Roman" panose="02020603050405020304" pitchFamily="18" charset="0"/>
              </a:rPr>
              <a:t>Accurate</a:t>
            </a:r>
            <a:r>
              <a:rPr lang="en-US" sz="1100" spc="-50" dirty="0">
                <a:latin typeface="Arial MT"/>
                <a:cs typeface="Times New Roman" panose="02020603050405020304" pitchFamily="18" charset="0"/>
              </a:rPr>
              <a:t> </a:t>
            </a:r>
            <a:r>
              <a:rPr lang="en-US" sz="1100" dirty="0">
                <a:latin typeface="Arial MT"/>
                <a:cs typeface="Times New Roman" panose="02020603050405020304" pitchFamily="18" charset="0"/>
              </a:rPr>
              <a:t>Fatigue</a:t>
            </a:r>
            <a:r>
              <a:rPr lang="en-US" sz="1100" spc="-45" dirty="0">
                <a:latin typeface="Arial MT"/>
                <a:cs typeface="Times New Roman" panose="02020603050405020304" pitchFamily="18" charset="0"/>
              </a:rPr>
              <a:t> </a:t>
            </a:r>
            <a:r>
              <a:rPr lang="en-US" sz="1100" spc="-10" dirty="0">
                <a:latin typeface="Arial MT"/>
                <a:cs typeface="Times New Roman" panose="02020603050405020304" pitchFamily="18" charset="0"/>
              </a:rPr>
              <a:t>Recognition </a:t>
            </a:r>
            <a:r>
              <a:rPr lang="en-US" sz="1100" dirty="0">
                <a:latin typeface="Arial MT"/>
                <a:cs typeface="Times New Roman" panose="02020603050405020304" pitchFamily="18" charset="0"/>
              </a:rPr>
              <a:t>Dynamic</a:t>
            </a:r>
            <a:r>
              <a:rPr lang="en-US" sz="1100" spc="-55" dirty="0">
                <a:latin typeface="Arial MT"/>
                <a:cs typeface="Times New Roman" panose="02020603050405020304" pitchFamily="18" charset="0"/>
              </a:rPr>
              <a:t> </a:t>
            </a:r>
            <a:r>
              <a:rPr lang="en-US" sz="1100" dirty="0">
                <a:latin typeface="Arial MT"/>
                <a:cs typeface="Times New Roman" panose="02020603050405020304" pitchFamily="18" charset="0"/>
              </a:rPr>
              <a:t>Dashboard</a:t>
            </a:r>
            <a:r>
              <a:rPr lang="en-US" sz="1100" spc="-60" dirty="0">
                <a:latin typeface="Arial MT"/>
                <a:cs typeface="Times New Roman" panose="02020603050405020304" pitchFamily="18" charset="0"/>
              </a:rPr>
              <a:t> </a:t>
            </a:r>
            <a:r>
              <a:rPr lang="en-US" sz="1100" spc="-10" dirty="0">
                <a:latin typeface="Arial MT"/>
                <a:cs typeface="Times New Roman" panose="02020603050405020304" pitchFamily="18" charset="0"/>
              </a:rPr>
              <a:t>Visualization </a:t>
            </a:r>
            <a:r>
              <a:rPr lang="en-US" sz="1100" dirty="0">
                <a:latin typeface="Arial MT"/>
                <a:cs typeface="Times New Roman" panose="02020603050405020304" pitchFamily="18" charset="0"/>
              </a:rPr>
              <a:t>Automated </a:t>
            </a:r>
            <a:r>
              <a:rPr lang="en-US" sz="1100" spc="-10" dirty="0">
                <a:latin typeface="Arial MT"/>
                <a:cs typeface="Times New Roman" panose="02020603050405020304" pitchFamily="18" charset="0"/>
              </a:rPr>
              <a:t>Productivity</a:t>
            </a:r>
            <a:r>
              <a:rPr lang="en-US" sz="1100" spc="-15" dirty="0">
                <a:latin typeface="Arial MT"/>
                <a:cs typeface="Times New Roman" panose="02020603050405020304" pitchFamily="18" charset="0"/>
              </a:rPr>
              <a:t> </a:t>
            </a:r>
            <a:r>
              <a:rPr lang="en-US" sz="1100" spc="-10" dirty="0">
                <a:latin typeface="Arial MT"/>
                <a:cs typeface="Times New Roman" panose="02020603050405020304" pitchFamily="18" charset="0"/>
              </a:rPr>
              <a:t>Insights Real-</a:t>
            </a:r>
            <a:r>
              <a:rPr lang="en-US" sz="1100" dirty="0">
                <a:latin typeface="Arial MT"/>
                <a:cs typeface="Times New Roman" panose="02020603050405020304" pitchFamily="18" charset="0"/>
              </a:rPr>
              <a:t>Time</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Alerts</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&amp;</a:t>
            </a:r>
            <a:r>
              <a:rPr lang="en-US" sz="1100" spc="-10" dirty="0">
                <a:latin typeface="Arial MT"/>
                <a:cs typeface="Times New Roman" panose="02020603050405020304" pitchFamily="18" charset="0"/>
              </a:rPr>
              <a:t> Suggestions</a:t>
            </a:r>
            <a:endParaRPr lang="en-US" sz="1100" dirty="0">
              <a:latin typeface="Arial MT"/>
              <a:cs typeface="Times New Roman" panose="02020603050405020304" pitchFamily="18" charset="0"/>
            </a:endParaRPr>
          </a:p>
          <a:p>
            <a:pPr marL="13970" marR="5080">
              <a:lnSpc>
                <a:spcPct val="204500"/>
              </a:lnSpc>
              <a:spcBef>
                <a:spcPts val="5"/>
              </a:spcBef>
            </a:pPr>
            <a:r>
              <a:rPr lang="en-US" sz="1100" dirty="0">
                <a:latin typeface="Arial MT"/>
                <a:cs typeface="Times New Roman" panose="02020603050405020304" pitchFamily="18" charset="0"/>
              </a:rPr>
              <a:t>Local</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Data</a:t>
            </a:r>
            <a:r>
              <a:rPr lang="en-US" sz="1100" spc="-15" dirty="0">
                <a:latin typeface="Arial MT"/>
                <a:cs typeface="Times New Roman" panose="02020603050405020304" pitchFamily="18" charset="0"/>
              </a:rPr>
              <a:t> </a:t>
            </a:r>
            <a:r>
              <a:rPr lang="en-US" sz="1100" spc="-10" dirty="0">
                <a:latin typeface="Arial MT"/>
                <a:cs typeface="Times New Roman" panose="02020603050405020304" pitchFamily="18" charset="0"/>
              </a:rPr>
              <a:t>Processing</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(Privacy</a:t>
            </a:r>
            <a:r>
              <a:rPr lang="en-US" sz="1100" spc="-15" dirty="0">
                <a:latin typeface="Arial MT"/>
                <a:cs typeface="Times New Roman" panose="02020603050405020304" pitchFamily="18" charset="0"/>
              </a:rPr>
              <a:t> </a:t>
            </a:r>
            <a:r>
              <a:rPr lang="en-US" sz="1100" spc="-10" dirty="0">
                <a:latin typeface="Arial MT"/>
                <a:cs typeface="Times New Roman" panose="02020603050405020304" pitchFamily="18" charset="0"/>
              </a:rPr>
              <a:t>Preserved) Cross-</a:t>
            </a:r>
            <a:r>
              <a:rPr lang="en-US" sz="1100" dirty="0">
                <a:latin typeface="Arial MT"/>
                <a:cs typeface="Times New Roman" panose="02020603050405020304" pitchFamily="18" charset="0"/>
              </a:rPr>
              <a:t>Platform</a:t>
            </a:r>
            <a:r>
              <a:rPr lang="en-US" sz="1100" spc="-5" dirty="0">
                <a:latin typeface="Arial MT"/>
                <a:cs typeface="Times New Roman" panose="02020603050405020304" pitchFamily="18" charset="0"/>
              </a:rPr>
              <a:t> </a:t>
            </a:r>
            <a:r>
              <a:rPr lang="en-US" sz="1100" spc="-10" dirty="0">
                <a:latin typeface="Arial MT"/>
                <a:cs typeface="Times New Roman" panose="02020603050405020304" pitchFamily="18" charset="0"/>
              </a:rPr>
              <a:t>Functionality</a:t>
            </a:r>
            <a:endParaRPr lang="en-US" sz="1100" dirty="0">
              <a:latin typeface="Arial MT"/>
              <a:cs typeface="Times New Roman" panose="02020603050405020304" pitchFamily="18" charset="0"/>
            </a:endParaRPr>
          </a:p>
          <a:p>
            <a:pPr>
              <a:lnSpc>
                <a:spcPct val="100000"/>
              </a:lnSpc>
              <a:spcBef>
                <a:spcPts val="105"/>
              </a:spcBef>
            </a:pPr>
            <a:endParaRPr lang="en-US" sz="1100" dirty="0">
              <a:latin typeface="Arial MT"/>
              <a:cs typeface="Times New Roman" panose="02020603050405020304" pitchFamily="18" charset="0"/>
            </a:endParaRPr>
          </a:p>
          <a:p>
            <a:pPr marL="12700">
              <a:lnSpc>
                <a:spcPct val="100000"/>
              </a:lnSpc>
            </a:pPr>
            <a:r>
              <a:rPr lang="en-US" sz="1100" dirty="0">
                <a:latin typeface="Arial MT"/>
                <a:cs typeface="Times New Roman" panose="02020603050405020304" pitchFamily="18" charset="0"/>
              </a:rPr>
              <a:t>Improved</a:t>
            </a:r>
            <a:r>
              <a:rPr lang="en-US" sz="1100" spc="-45" dirty="0">
                <a:latin typeface="Arial MT"/>
                <a:cs typeface="Times New Roman" panose="02020603050405020304" pitchFamily="18" charset="0"/>
              </a:rPr>
              <a:t> </a:t>
            </a:r>
            <a:r>
              <a:rPr lang="en-US" sz="1100" dirty="0">
                <a:latin typeface="Arial MT"/>
                <a:cs typeface="Times New Roman" panose="02020603050405020304" pitchFamily="18" charset="0"/>
              </a:rPr>
              <a:t>Productivity</a:t>
            </a:r>
            <a:r>
              <a:rPr lang="en-US" sz="1100" spc="-45" dirty="0">
                <a:latin typeface="Arial MT"/>
                <a:cs typeface="Times New Roman" panose="02020603050405020304" pitchFamily="18" charset="0"/>
              </a:rPr>
              <a:t> </a:t>
            </a:r>
            <a:r>
              <a:rPr lang="en-US" sz="1100" spc="-10" dirty="0">
                <a:latin typeface="Arial MT"/>
                <a:cs typeface="Times New Roman" panose="02020603050405020304" pitchFamily="18" charset="0"/>
              </a:rPr>
              <a:t>Awareness</a:t>
            </a:r>
            <a:endParaRPr lang="en-US" sz="1100" dirty="0">
              <a:latin typeface="Arial MT"/>
              <a:cs typeface="Times New Roman" panose="02020603050405020304" pitchFamily="18" charset="0"/>
            </a:endParaRPr>
          </a:p>
          <a:p>
            <a:pPr marL="12700" marR="5080">
              <a:lnSpc>
                <a:spcPct val="102600"/>
              </a:lnSpc>
              <a:spcBef>
                <a:spcPts val="55"/>
              </a:spcBef>
            </a:pPr>
            <a:endParaRPr sz="1100" dirty="0">
              <a:latin typeface="Arial MT"/>
              <a:cs typeface="Times New Roman" panose="02020603050405020304" pitchFamily="18" charset="0"/>
            </a:endParaRPr>
          </a:p>
        </p:txBody>
      </p:sp>
      <p:grpSp>
        <p:nvGrpSpPr>
          <p:cNvPr id="8" name="object 8"/>
          <p:cNvGrpSpPr/>
          <p:nvPr/>
        </p:nvGrpSpPr>
        <p:grpSpPr>
          <a:xfrm>
            <a:off x="0" y="3326968"/>
            <a:ext cx="4608195" cy="129539"/>
            <a:chOff x="0" y="3326968"/>
            <a:chExt cx="4608195" cy="129539"/>
          </a:xfrm>
        </p:grpSpPr>
        <p:sp>
          <p:nvSpPr>
            <p:cNvPr id="9" name="object 9"/>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0" name="object 10"/>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1" name="object 11"/>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2" name="object 12"/>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3" name="object 13"/>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4" name="object 14"/>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5" name="object 15"/>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19</a:t>
            </a:fld>
            <a:r>
              <a:rPr spc="-70" dirty="0"/>
              <a:t> </a:t>
            </a:r>
            <a:r>
              <a:rPr dirty="0"/>
              <a:t>/</a:t>
            </a:r>
            <a:r>
              <a:rPr spc="-65" dirty="0"/>
              <a:t> </a:t>
            </a:r>
            <a:r>
              <a:rPr lang="en-IN" spc="-25" dirty="0"/>
              <a:t>24</a:t>
            </a:r>
            <a:endParaRPr spc="-25" dirty="0"/>
          </a:p>
        </p:txBody>
      </p:sp>
      <p:pic>
        <p:nvPicPr>
          <p:cNvPr id="16" name="object 4">
            <a:extLst>
              <a:ext uri="{FF2B5EF4-FFF2-40B4-BE49-F238E27FC236}">
                <a16:creationId xmlns:a16="http://schemas.microsoft.com/office/drawing/2014/main" id="{888E0319-D6CF-072F-3380-4615796BC65E}"/>
              </a:ext>
            </a:extLst>
          </p:cNvPr>
          <p:cNvPicPr/>
          <p:nvPr/>
        </p:nvPicPr>
        <p:blipFill>
          <a:blip r:embed="rId2" cstate="print"/>
          <a:stretch>
            <a:fillRect/>
          </a:stretch>
        </p:blipFill>
        <p:spPr>
          <a:xfrm>
            <a:off x="252632" y="868048"/>
            <a:ext cx="76809" cy="76809"/>
          </a:xfrm>
          <a:prstGeom prst="rect">
            <a:avLst/>
          </a:prstGeom>
        </p:spPr>
      </p:pic>
      <p:pic>
        <p:nvPicPr>
          <p:cNvPr id="17" name="object 4">
            <a:extLst>
              <a:ext uri="{FF2B5EF4-FFF2-40B4-BE49-F238E27FC236}">
                <a16:creationId xmlns:a16="http://schemas.microsoft.com/office/drawing/2014/main" id="{8ACE1893-1F38-61D7-595C-9017020CC548}"/>
              </a:ext>
            </a:extLst>
          </p:cNvPr>
          <p:cNvPicPr/>
          <p:nvPr/>
        </p:nvPicPr>
        <p:blipFill>
          <a:blip r:embed="rId2" cstate="print"/>
          <a:stretch>
            <a:fillRect/>
          </a:stretch>
        </p:blipFill>
        <p:spPr>
          <a:xfrm>
            <a:off x="251705" y="1213472"/>
            <a:ext cx="76809" cy="76809"/>
          </a:xfrm>
          <a:prstGeom prst="rect">
            <a:avLst/>
          </a:prstGeom>
        </p:spPr>
      </p:pic>
      <p:pic>
        <p:nvPicPr>
          <p:cNvPr id="18" name="object 4">
            <a:extLst>
              <a:ext uri="{FF2B5EF4-FFF2-40B4-BE49-F238E27FC236}">
                <a16:creationId xmlns:a16="http://schemas.microsoft.com/office/drawing/2014/main" id="{08844244-30DE-1EF5-0701-CF0D16E7251A}"/>
              </a:ext>
            </a:extLst>
          </p:cNvPr>
          <p:cNvPicPr/>
          <p:nvPr/>
        </p:nvPicPr>
        <p:blipFill>
          <a:blip r:embed="rId2" cstate="print"/>
          <a:stretch>
            <a:fillRect/>
          </a:stretch>
        </p:blipFill>
        <p:spPr>
          <a:xfrm>
            <a:off x="247650" y="1558896"/>
            <a:ext cx="76809" cy="76809"/>
          </a:xfrm>
          <a:prstGeom prst="rect">
            <a:avLst/>
          </a:prstGeom>
        </p:spPr>
      </p:pic>
      <p:pic>
        <p:nvPicPr>
          <p:cNvPr id="19" name="object 4">
            <a:extLst>
              <a:ext uri="{FF2B5EF4-FFF2-40B4-BE49-F238E27FC236}">
                <a16:creationId xmlns:a16="http://schemas.microsoft.com/office/drawing/2014/main" id="{144FDD0B-6C2B-FBA4-9D7F-C79D86802065}"/>
              </a:ext>
            </a:extLst>
          </p:cNvPr>
          <p:cNvPicPr/>
          <p:nvPr/>
        </p:nvPicPr>
        <p:blipFill>
          <a:blip r:embed="rId2" cstate="print"/>
          <a:stretch>
            <a:fillRect/>
          </a:stretch>
        </p:blipFill>
        <p:spPr>
          <a:xfrm>
            <a:off x="252632" y="1920353"/>
            <a:ext cx="76809" cy="76809"/>
          </a:xfrm>
          <a:prstGeom prst="rect">
            <a:avLst/>
          </a:prstGeom>
        </p:spPr>
      </p:pic>
      <p:pic>
        <p:nvPicPr>
          <p:cNvPr id="21" name="object 4">
            <a:extLst>
              <a:ext uri="{FF2B5EF4-FFF2-40B4-BE49-F238E27FC236}">
                <a16:creationId xmlns:a16="http://schemas.microsoft.com/office/drawing/2014/main" id="{20B85A8F-B6CC-EC18-613A-271044A0C317}"/>
              </a:ext>
            </a:extLst>
          </p:cNvPr>
          <p:cNvPicPr/>
          <p:nvPr/>
        </p:nvPicPr>
        <p:blipFill>
          <a:blip r:embed="rId2" cstate="print"/>
          <a:stretch>
            <a:fillRect/>
          </a:stretch>
        </p:blipFill>
        <p:spPr>
          <a:xfrm>
            <a:off x="252350" y="2243405"/>
            <a:ext cx="76809" cy="76809"/>
          </a:xfrm>
          <a:prstGeom prst="rect">
            <a:avLst/>
          </a:prstGeom>
        </p:spPr>
      </p:pic>
      <p:pic>
        <p:nvPicPr>
          <p:cNvPr id="22" name="object 4">
            <a:extLst>
              <a:ext uri="{FF2B5EF4-FFF2-40B4-BE49-F238E27FC236}">
                <a16:creationId xmlns:a16="http://schemas.microsoft.com/office/drawing/2014/main" id="{4015405B-5DD1-CD45-EC45-1153E1C439BE}"/>
              </a:ext>
            </a:extLst>
          </p:cNvPr>
          <p:cNvPicPr/>
          <p:nvPr/>
        </p:nvPicPr>
        <p:blipFill>
          <a:blip r:embed="rId2" cstate="print"/>
          <a:stretch>
            <a:fillRect/>
          </a:stretch>
        </p:blipFill>
        <p:spPr>
          <a:xfrm>
            <a:off x="247649" y="2615539"/>
            <a:ext cx="76809" cy="76809"/>
          </a:xfrm>
          <a:prstGeom prst="rect">
            <a:avLst/>
          </a:prstGeom>
        </p:spPr>
      </p:pic>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92710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Arial MT"/>
                <a:cs typeface="Arial MT"/>
              </a:rPr>
              <a:t>Conclusion</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20</a:t>
            </a:fld>
            <a:r>
              <a:rPr spc="-70" dirty="0"/>
              <a:t> </a:t>
            </a:r>
            <a:r>
              <a:rPr dirty="0"/>
              <a:t>/</a:t>
            </a:r>
            <a:r>
              <a:rPr spc="-65" dirty="0"/>
              <a:t> </a:t>
            </a:r>
            <a:r>
              <a:rPr lang="en-IN" spc="-25" dirty="0"/>
              <a:t>24</a:t>
            </a:r>
            <a:endParaRPr spc="-25" dirty="0"/>
          </a:p>
        </p:txBody>
      </p:sp>
      <p:sp>
        <p:nvSpPr>
          <p:cNvPr id="13" name="TextBox 12">
            <a:extLst>
              <a:ext uri="{FF2B5EF4-FFF2-40B4-BE49-F238E27FC236}">
                <a16:creationId xmlns:a16="http://schemas.microsoft.com/office/drawing/2014/main" id="{3DA0348A-A4B5-7C11-754F-14C052F8770B}"/>
              </a:ext>
            </a:extLst>
          </p:cNvPr>
          <p:cNvSpPr txBox="1"/>
          <p:nvPr/>
        </p:nvSpPr>
        <p:spPr>
          <a:xfrm>
            <a:off x="0" y="485622"/>
            <a:ext cx="4610100" cy="2292935"/>
          </a:xfrm>
          <a:prstGeom prst="rect">
            <a:avLst/>
          </a:prstGeom>
          <a:noFill/>
        </p:spPr>
        <p:txBody>
          <a:bodyPr wrap="square">
            <a:spAutoFit/>
          </a:bodyPr>
          <a:lstStyle/>
          <a:p>
            <a:pPr marL="228600" marR="152400">
              <a:buNone/>
            </a:pPr>
            <a:r>
              <a:rPr lang="en-US" sz="1100" dirty="0">
                <a:effectLst/>
                <a:latin typeface="Arial MT"/>
                <a:ea typeface="Arial MT"/>
                <a:cs typeface="Arial MT"/>
              </a:rPr>
              <a:t>The MindTrace system successfully uses AI and computer vision to monitor real-time emotions and engagement. It provides an intelligent, non-intrusive way to evaluate productivity and well-being by using a CNN to classify emotions and analyzing trends to detect fatigue. The dashboard offers users clear analytics of their emotional patterns, and the system validates that efficient, privacy-preserving emotion detection can be achieved locally. Overall, MindTrace bridges the gap between emotional intelligence and productivity, offering a human-centered platform that promotes better focus, reduced fatigue, and improved mental wellness.</a:t>
            </a:r>
            <a:endParaRPr lang="en-IN" sz="1100" dirty="0">
              <a:effectLst/>
              <a:latin typeface="Arial MT"/>
              <a:ea typeface="Arial MT"/>
              <a:cs typeface="Arial MT"/>
            </a:endParaRPr>
          </a:p>
          <a:p>
            <a:pPr>
              <a:buNone/>
            </a:pPr>
            <a:br>
              <a:rPr lang="en-US" sz="1100" dirty="0">
                <a:effectLst/>
                <a:latin typeface="Arial MT"/>
                <a:ea typeface="Arial MT"/>
                <a:cs typeface="Arial MT"/>
              </a:rPr>
            </a:br>
            <a:endParaRPr lang="en-IN" sz="1100" dirty="0"/>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Papers</a:t>
            </a:r>
            <a:r>
              <a:rPr spc="30" dirty="0"/>
              <a:t> </a:t>
            </a:r>
            <a:r>
              <a:rPr spc="-10" dirty="0"/>
              <a:t>Published</a:t>
            </a:r>
          </a:p>
        </p:txBody>
      </p:sp>
      <p:pic>
        <p:nvPicPr>
          <p:cNvPr id="4" name="object 4"/>
          <p:cNvPicPr/>
          <p:nvPr/>
        </p:nvPicPr>
        <p:blipFill>
          <a:blip r:embed="rId2" cstate="print"/>
          <a:stretch>
            <a:fillRect/>
          </a:stretch>
        </p:blipFill>
        <p:spPr>
          <a:xfrm>
            <a:off x="269557" y="1184059"/>
            <a:ext cx="76809" cy="76809"/>
          </a:xfrm>
          <a:prstGeom prst="rect">
            <a:avLst/>
          </a:prstGeom>
        </p:spPr>
      </p:pic>
      <p:sp>
        <p:nvSpPr>
          <p:cNvPr id="5" name="object 5"/>
          <p:cNvSpPr txBox="1"/>
          <p:nvPr/>
        </p:nvSpPr>
        <p:spPr>
          <a:xfrm>
            <a:off x="402932" y="1112150"/>
            <a:ext cx="4074160" cy="1090295"/>
          </a:xfrm>
          <a:prstGeom prst="rect">
            <a:avLst/>
          </a:prstGeom>
        </p:spPr>
        <p:txBody>
          <a:bodyPr vert="horz" wrap="square" lIns="0" tIns="6985" rIns="0" bIns="0" rtlCol="0">
            <a:spAutoFit/>
          </a:bodyPr>
          <a:lstStyle/>
          <a:p>
            <a:pPr marL="12700" marR="48895">
              <a:lnSpc>
                <a:spcPct val="102600"/>
              </a:lnSpc>
              <a:spcBef>
                <a:spcPts val="55"/>
              </a:spcBef>
            </a:pPr>
            <a:r>
              <a:rPr sz="1100" dirty="0">
                <a:latin typeface="Arial MT"/>
                <a:cs typeface="Arial MT"/>
              </a:rPr>
              <a:t>Survey</a:t>
            </a:r>
            <a:r>
              <a:rPr sz="1100" spc="-50" dirty="0">
                <a:latin typeface="Arial MT"/>
                <a:cs typeface="Arial MT"/>
              </a:rPr>
              <a:t> </a:t>
            </a:r>
            <a:r>
              <a:rPr sz="1100" dirty="0">
                <a:latin typeface="Arial MT"/>
                <a:cs typeface="Arial MT"/>
              </a:rPr>
              <a:t>On:</a:t>
            </a:r>
            <a:r>
              <a:rPr sz="1100" spc="5" dirty="0">
                <a:latin typeface="Arial MT"/>
                <a:cs typeface="Arial MT"/>
              </a:rPr>
              <a:t> </a:t>
            </a:r>
            <a:r>
              <a:rPr sz="1100" dirty="0">
                <a:latin typeface="Arial MT"/>
                <a:cs typeface="Arial MT"/>
              </a:rPr>
              <a:t>Web</a:t>
            </a:r>
            <a:r>
              <a:rPr sz="1100" spc="-50" dirty="0">
                <a:latin typeface="Arial MT"/>
                <a:cs typeface="Arial MT"/>
              </a:rPr>
              <a:t> </a:t>
            </a:r>
            <a:r>
              <a:rPr sz="1100" dirty="0">
                <a:latin typeface="Arial MT"/>
                <a:cs typeface="Arial MT"/>
              </a:rPr>
              <a:t>Usage</a:t>
            </a:r>
            <a:r>
              <a:rPr sz="1100" spc="-50" dirty="0">
                <a:latin typeface="Arial MT"/>
                <a:cs typeface="Arial MT"/>
              </a:rPr>
              <a:t> </a:t>
            </a:r>
            <a:r>
              <a:rPr sz="1100" dirty="0">
                <a:latin typeface="Arial MT"/>
                <a:cs typeface="Arial MT"/>
              </a:rPr>
              <a:t>Mining</a:t>
            </a:r>
            <a:r>
              <a:rPr sz="1100" spc="-50" dirty="0">
                <a:latin typeface="Arial MT"/>
                <a:cs typeface="Arial MT"/>
              </a:rPr>
              <a:t> </a:t>
            </a:r>
            <a:r>
              <a:rPr sz="1100" spc="-25" dirty="0">
                <a:latin typeface="Arial MT"/>
                <a:cs typeface="Arial MT"/>
              </a:rPr>
              <a:t>Techniques</a:t>
            </a:r>
            <a:r>
              <a:rPr sz="1100" spc="-50" dirty="0">
                <a:latin typeface="Arial MT"/>
                <a:cs typeface="Arial MT"/>
              </a:rPr>
              <a:t> </a:t>
            </a:r>
            <a:r>
              <a:rPr sz="1100" dirty="0">
                <a:latin typeface="Arial MT"/>
                <a:cs typeface="Arial MT"/>
              </a:rPr>
              <a:t>Generating</a:t>
            </a:r>
            <a:r>
              <a:rPr sz="1100" spc="-50" dirty="0">
                <a:latin typeface="Arial MT"/>
                <a:cs typeface="Arial MT"/>
              </a:rPr>
              <a:t> </a:t>
            </a:r>
            <a:r>
              <a:rPr sz="1100" spc="-10" dirty="0">
                <a:latin typeface="Arial MT"/>
                <a:cs typeface="Arial MT"/>
              </a:rPr>
              <a:t>Frequent </a:t>
            </a:r>
            <a:r>
              <a:rPr sz="1100" dirty="0">
                <a:latin typeface="Arial MT"/>
                <a:cs typeface="Arial MT"/>
              </a:rPr>
              <a:t>Patterns</a:t>
            </a:r>
            <a:r>
              <a:rPr sz="1100" spc="-30" dirty="0">
                <a:latin typeface="Arial MT"/>
                <a:cs typeface="Arial MT"/>
              </a:rPr>
              <a:t> </a:t>
            </a:r>
            <a:r>
              <a:rPr sz="1100" dirty="0">
                <a:latin typeface="Arial MT"/>
                <a:cs typeface="Arial MT"/>
              </a:rPr>
              <a:t>for</a:t>
            </a:r>
            <a:r>
              <a:rPr sz="1100" spc="-25" dirty="0">
                <a:latin typeface="Arial MT"/>
                <a:cs typeface="Arial MT"/>
              </a:rPr>
              <a:t> Web-</a:t>
            </a:r>
            <a:r>
              <a:rPr sz="1100" spc="-10" dirty="0">
                <a:latin typeface="Arial MT"/>
                <a:cs typeface="Arial MT"/>
              </a:rPr>
              <a:t>Page</a:t>
            </a:r>
            <a:r>
              <a:rPr sz="1100" spc="-25" dirty="0">
                <a:latin typeface="Arial MT"/>
                <a:cs typeface="Arial MT"/>
              </a:rPr>
              <a:t> </a:t>
            </a:r>
            <a:r>
              <a:rPr sz="1100" spc="-10" dirty="0">
                <a:latin typeface="Arial MT"/>
                <a:cs typeface="Arial MT"/>
              </a:rPr>
              <a:t>Recommendation,”International</a:t>
            </a:r>
            <a:r>
              <a:rPr sz="1100" spc="-25" dirty="0">
                <a:latin typeface="Arial MT"/>
                <a:cs typeface="Arial MT"/>
              </a:rPr>
              <a:t> </a:t>
            </a:r>
            <a:r>
              <a:rPr sz="1100" dirty="0">
                <a:latin typeface="Arial MT"/>
                <a:cs typeface="Arial MT"/>
              </a:rPr>
              <a:t>Journal</a:t>
            </a:r>
            <a:r>
              <a:rPr sz="1100" spc="-30" dirty="0">
                <a:latin typeface="Arial MT"/>
                <a:cs typeface="Arial MT"/>
              </a:rPr>
              <a:t> </a:t>
            </a:r>
            <a:r>
              <a:rPr sz="1100" spc="-25" dirty="0">
                <a:latin typeface="Arial MT"/>
                <a:cs typeface="Arial MT"/>
              </a:rPr>
              <a:t>of </a:t>
            </a:r>
            <a:r>
              <a:rPr sz="1100" dirty="0">
                <a:latin typeface="Arial MT"/>
                <a:cs typeface="Arial MT"/>
              </a:rPr>
              <a:t>Computer</a:t>
            </a:r>
            <a:r>
              <a:rPr sz="1100" spc="-35" dirty="0">
                <a:latin typeface="Arial MT"/>
                <a:cs typeface="Arial MT"/>
              </a:rPr>
              <a:t> </a:t>
            </a:r>
            <a:r>
              <a:rPr sz="1100" spc="-10" dirty="0">
                <a:latin typeface="Arial MT"/>
                <a:cs typeface="Arial MT"/>
              </a:rPr>
              <a:t>Science</a:t>
            </a:r>
            <a:r>
              <a:rPr sz="1100" spc="-30" dirty="0">
                <a:latin typeface="Arial MT"/>
                <a:cs typeface="Arial MT"/>
              </a:rPr>
              <a:t> </a:t>
            </a:r>
            <a:r>
              <a:rPr sz="1100" dirty="0">
                <a:latin typeface="Arial MT"/>
                <a:cs typeface="Arial MT"/>
              </a:rPr>
              <a:t>and</a:t>
            </a:r>
            <a:r>
              <a:rPr sz="1100" spc="-30" dirty="0">
                <a:latin typeface="Arial MT"/>
                <a:cs typeface="Arial MT"/>
              </a:rPr>
              <a:t> </a:t>
            </a:r>
            <a:r>
              <a:rPr sz="1100" dirty="0">
                <a:latin typeface="Arial MT"/>
                <a:cs typeface="Arial MT"/>
              </a:rPr>
              <a:t>Information</a:t>
            </a:r>
            <a:r>
              <a:rPr sz="1100" spc="-30" dirty="0">
                <a:latin typeface="Arial MT"/>
                <a:cs typeface="Arial MT"/>
              </a:rPr>
              <a:t> </a:t>
            </a:r>
            <a:r>
              <a:rPr sz="1100" spc="-25" dirty="0">
                <a:latin typeface="Arial MT"/>
                <a:cs typeface="Arial MT"/>
              </a:rPr>
              <a:t>Technologies,</a:t>
            </a:r>
            <a:r>
              <a:rPr sz="1100" spc="-35" dirty="0">
                <a:latin typeface="Arial MT"/>
                <a:cs typeface="Arial MT"/>
              </a:rPr>
              <a:t> </a:t>
            </a:r>
            <a:r>
              <a:rPr sz="1100" dirty="0">
                <a:latin typeface="Arial MT"/>
                <a:cs typeface="Arial MT"/>
              </a:rPr>
              <a:t>Vol.</a:t>
            </a:r>
            <a:r>
              <a:rPr sz="1100" spc="35" dirty="0">
                <a:latin typeface="Arial MT"/>
                <a:cs typeface="Arial MT"/>
              </a:rPr>
              <a:t> </a:t>
            </a:r>
            <a:r>
              <a:rPr sz="1100" dirty="0">
                <a:latin typeface="Arial MT"/>
                <a:cs typeface="Arial MT"/>
              </a:rPr>
              <a:t>7</a:t>
            </a:r>
            <a:r>
              <a:rPr sz="1100" spc="-30" dirty="0">
                <a:latin typeface="Arial MT"/>
                <a:cs typeface="Arial MT"/>
              </a:rPr>
              <a:t> </a:t>
            </a:r>
            <a:r>
              <a:rPr sz="1100" dirty="0">
                <a:latin typeface="Arial MT"/>
                <a:cs typeface="Arial MT"/>
              </a:rPr>
              <a:t>(3)</a:t>
            </a:r>
            <a:r>
              <a:rPr sz="1100" spc="-35" dirty="0">
                <a:latin typeface="Arial MT"/>
                <a:cs typeface="Arial MT"/>
              </a:rPr>
              <a:t> </a:t>
            </a:r>
            <a:r>
              <a:rPr sz="1100" spc="-50" dirty="0">
                <a:latin typeface="Arial MT"/>
                <a:cs typeface="Arial MT"/>
              </a:rPr>
              <a:t>, </a:t>
            </a:r>
            <a:r>
              <a:rPr sz="1100" dirty="0">
                <a:latin typeface="Arial MT"/>
                <a:cs typeface="Arial MT"/>
              </a:rPr>
              <a:t>2016,</a:t>
            </a:r>
            <a:r>
              <a:rPr sz="1100" spc="-15" dirty="0">
                <a:latin typeface="Arial MT"/>
                <a:cs typeface="Arial MT"/>
              </a:rPr>
              <a:t> </a:t>
            </a:r>
            <a:r>
              <a:rPr sz="1100" spc="-10" dirty="0">
                <a:latin typeface="Arial MT"/>
                <a:cs typeface="Arial MT"/>
              </a:rPr>
              <a:t>1435-1437”.</a:t>
            </a:r>
            <a:endParaRPr sz="1100" dirty="0">
              <a:latin typeface="Arial MT"/>
              <a:cs typeface="Arial MT"/>
            </a:endParaRPr>
          </a:p>
          <a:p>
            <a:pPr marL="12700" marR="5080">
              <a:lnSpc>
                <a:spcPct val="102699"/>
              </a:lnSpc>
              <a:spcBef>
                <a:spcPts val="300"/>
              </a:spcBef>
            </a:pPr>
            <a:r>
              <a:rPr sz="1100" spc="-10" dirty="0">
                <a:latin typeface="Arial MT"/>
                <a:cs typeface="Arial MT"/>
              </a:rPr>
              <a:t>Integrating</a:t>
            </a:r>
            <a:r>
              <a:rPr sz="1100" spc="-45" dirty="0">
                <a:latin typeface="Arial MT"/>
                <a:cs typeface="Arial MT"/>
              </a:rPr>
              <a:t> </a:t>
            </a:r>
            <a:r>
              <a:rPr sz="1100" dirty="0">
                <a:latin typeface="Arial MT"/>
                <a:cs typeface="Arial MT"/>
              </a:rPr>
              <a:t>PL4UP</a:t>
            </a:r>
            <a:r>
              <a:rPr sz="1100" spc="-40" dirty="0">
                <a:latin typeface="Arial MT"/>
                <a:cs typeface="Arial MT"/>
              </a:rPr>
              <a:t> </a:t>
            </a:r>
            <a:r>
              <a:rPr sz="1100" dirty="0">
                <a:latin typeface="Arial MT"/>
                <a:cs typeface="Arial MT"/>
              </a:rPr>
              <a:t>a</a:t>
            </a:r>
            <a:r>
              <a:rPr sz="1100" spc="-40" dirty="0">
                <a:latin typeface="Arial MT"/>
                <a:cs typeface="Arial MT"/>
              </a:rPr>
              <a:t> </a:t>
            </a:r>
            <a:r>
              <a:rPr sz="1100" spc="-10" dirty="0">
                <a:latin typeface="Arial MT"/>
                <a:cs typeface="Arial MT"/>
              </a:rPr>
              <a:t>Fast</a:t>
            </a:r>
            <a:r>
              <a:rPr sz="1100" spc="-45" dirty="0">
                <a:latin typeface="Arial MT"/>
                <a:cs typeface="Arial MT"/>
              </a:rPr>
              <a:t> </a:t>
            </a:r>
            <a:r>
              <a:rPr sz="1100" spc="-10" dirty="0">
                <a:latin typeface="Arial MT"/>
                <a:cs typeface="Arial MT"/>
              </a:rPr>
              <a:t>Sequence</a:t>
            </a:r>
            <a:r>
              <a:rPr sz="1100" spc="-40" dirty="0">
                <a:latin typeface="Arial MT"/>
                <a:cs typeface="Arial MT"/>
              </a:rPr>
              <a:t> </a:t>
            </a:r>
            <a:r>
              <a:rPr sz="1100" dirty="0">
                <a:latin typeface="Arial MT"/>
                <a:cs typeface="Arial MT"/>
              </a:rPr>
              <a:t>Pattern</a:t>
            </a:r>
            <a:r>
              <a:rPr sz="1100" spc="-40" dirty="0">
                <a:latin typeface="Arial MT"/>
                <a:cs typeface="Arial MT"/>
              </a:rPr>
              <a:t> </a:t>
            </a:r>
            <a:r>
              <a:rPr sz="1100" dirty="0">
                <a:latin typeface="Arial MT"/>
                <a:cs typeface="Arial MT"/>
              </a:rPr>
              <a:t>Mining</a:t>
            </a:r>
            <a:r>
              <a:rPr sz="1100" spc="-45" dirty="0">
                <a:latin typeface="Arial MT"/>
                <a:cs typeface="Arial MT"/>
              </a:rPr>
              <a:t> </a:t>
            </a:r>
            <a:r>
              <a:rPr sz="1100" dirty="0">
                <a:latin typeface="Arial MT"/>
                <a:cs typeface="Arial MT"/>
              </a:rPr>
              <a:t>Algorithm</a:t>
            </a:r>
            <a:r>
              <a:rPr sz="1100" spc="-40" dirty="0">
                <a:latin typeface="Arial MT"/>
                <a:cs typeface="Arial MT"/>
              </a:rPr>
              <a:t> </a:t>
            </a:r>
            <a:r>
              <a:rPr sz="1100" spc="-20" dirty="0">
                <a:latin typeface="Arial MT"/>
                <a:cs typeface="Arial MT"/>
              </a:rPr>
              <a:t>with </a:t>
            </a:r>
            <a:r>
              <a:rPr sz="1100" dirty="0">
                <a:latin typeface="Arial MT"/>
                <a:cs typeface="Arial MT"/>
              </a:rPr>
              <a:t>Ontology</a:t>
            </a:r>
            <a:r>
              <a:rPr sz="1100" spc="10" dirty="0">
                <a:latin typeface="Arial MT"/>
                <a:cs typeface="Arial MT"/>
              </a:rPr>
              <a:t> </a:t>
            </a:r>
            <a:r>
              <a:rPr sz="1100" dirty="0">
                <a:latin typeface="Arial MT"/>
                <a:cs typeface="Arial MT"/>
              </a:rPr>
              <a:t>for</a:t>
            </a:r>
            <a:r>
              <a:rPr sz="1100" spc="15" dirty="0">
                <a:latin typeface="Arial MT"/>
                <a:cs typeface="Arial MT"/>
              </a:rPr>
              <a:t> </a:t>
            </a:r>
            <a:r>
              <a:rPr sz="1100" spc="-25" dirty="0">
                <a:latin typeface="Arial MT"/>
                <a:cs typeface="Arial MT"/>
              </a:rPr>
              <a:t>Web-</a:t>
            </a:r>
            <a:r>
              <a:rPr sz="1100" spc="-10" dirty="0">
                <a:latin typeface="Arial MT"/>
                <a:cs typeface="Arial MT"/>
              </a:rPr>
              <a:t>Page</a:t>
            </a:r>
            <a:r>
              <a:rPr sz="1100" spc="10" dirty="0">
                <a:latin typeface="Arial MT"/>
                <a:cs typeface="Arial MT"/>
              </a:rPr>
              <a:t> </a:t>
            </a:r>
            <a:r>
              <a:rPr sz="1100" spc="-20" dirty="0">
                <a:latin typeface="Arial MT"/>
                <a:cs typeface="Arial MT"/>
              </a:rPr>
              <a:t>Recommendation,”CPGCON</a:t>
            </a:r>
            <a:r>
              <a:rPr sz="1100" spc="15" dirty="0">
                <a:latin typeface="Arial MT"/>
                <a:cs typeface="Arial MT"/>
              </a:rPr>
              <a:t> </a:t>
            </a:r>
            <a:r>
              <a:rPr sz="1100" spc="-10" dirty="0">
                <a:latin typeface="Arial MT"/>
                <a:cs typeface="Arial MT"/>
              </a:rPr>
              <a:t>2016”.</a:t>
            </a:r>
            <a:endParaRPr sz="1100" dirty="0">
              <a:latin typeface="Arial MT"/>
              <a:cs typeface="Arial MT"/>
            </a:endParaRPr>
          </a:p>
        </p:txBody>
      </p:sp>
      <p:pic>
        <p:nvPicPr>
          <p:cNvPr id="6" name="object 6"/>
          <p:cNvPicPr/>
          <p:nvPr/>
        </p:nvPicPr>
        <p:blipFill>
          <a:blip r:embed="rId3" cstate="print"/>
          <a:stretch>
            <a:fillRect/>
          </a:stretch>
        </p:blipFill>
        <p:spPr>
          <a:xfrm>
            <a:off x="269557" y="1910308"/>
            <a:ext cx="76809" cy="76809"/>
          </a:xfrm>
          <a:prstGeom prst="rect">
            <a:avLst/>
          </a:prstGeom>
        </p:spPr>
      </p:pic>
      <p:grpSp>
        <p:nvGrpSpPr>
          <p:cNvPr id="7" name="object 7"/>
          <p:cNvGrpSpPr/>
          <p:nvPr/>
        </p:nvGrpSpPr>
        <p:grpSpPr>
          <a:xfrm>
            <a:off x="0" y="3326968"/>
            <a:ext cx="4608195" cy="129539"/>
            <a:chOff x="0" y="3326968"/>
            <a:chExt cx="4608195" cy="129539"/>
          </a:xfrm>
        </p:grpSpPr>
        <p:sp>
          <p:nvSpPr>
            <p:cNvPr id="8" name="object 8"/>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9" name="object 9"/>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0" name="object 10"/>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2" name="object 12"/>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3" name="object 13"/>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4" name="object 14"/>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21</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References</a:t>
            </a:r>
            <a:r>
              <a:rPr spc="100" dirty="0"/>
              <a:t> </a:t>
            </a:r>
            <a:r>
              <a:rPr spc="-50" dirty="0"/>
              <a:t>I</a:t>
            </a:r>
          </a:p>
        </p:txBody>
      </p:sp>
      <p:sp>
        <p:nvSpPr>
          <p:cNvPr id="4" name="object 4"/>
          <p:cNvSpPr txBox="1"/>
          <p:nvPr/>
        </p:nvSpPr>
        <p:spPr>
          <a:xfrm>
            <a:off x="132308" y="511175"/>
            <a:ext cx="4343400" cy="2551339"/>
          </a:xfrm>
          <a:prstGeom prst="rect">
            <a:avLst/>
          </a:prstGeom>
        </p:spPr>
        <p:txBody>
          <a:bodyPr vert="horz" wrap="square" lIns="0" tIns="12065" rIns="0" bIns="0" rtlCol="0">
            <a:spAutoFit/>
          </a:bodyPr>
          <a:lstStyle/>
          <a:p>
            <a:pPr lvl="0"/>
            <a:r>
              <a:rPr lang="en-US" sz="1100" dirty="0">
                <a:latin typeface="Arial MT"/>
              </a:rPr>
              <a:t>[1]   C. Liang and J. Dong, “A Survey of Deep Learning-Based Facial Expression Recognition Research,” IEEE Transactions on Affective Computing, 2023.</a:t>
            </a:r>
          </a:p>
          <a:p>
            <a:pPr lvl="0"/>
            <a:endParaRPr lang="en-IN" sz="1100" dirty="0">
              <a:latin typeface="Arial MT"/>
            </a:endParaRPr>
          </a:p>
          <a:p>
            <a:pPr lvl="0"/>
            <a:r>
              <a:rPr lang="en-US" sz="1100" dirty="0">
                <a:latin typeface="Arial MT"/>
              </a:rPr>
              <a:t>[2]   H. Zhang, Y. Chen, and L. Wang, “Improved Facial Emotion Recognition Model Based on a Novel Deep Network,” Elsevier Journal of Computer Vision and AI, 2024.</a:t>
            </a:r>
          </a:p>
          <a:p>
            <a:pPr lvl="0"/>
            <a:endParaRPr lang="en-IN" sz="1100" dirty="0">
              <a:latin typeface="Arial MT"/>
            </a:endParaRPr>
          </a:p>
          <a:p>
            <a:pPr lvl="0"/>
            <a:r>
              <a:rPr lang="en-US" sz="1100" dirty="0">
                <a:latin typeface="Arial MT"/>
              </a:rPr>
              <a:t>[3]   Q. Li, “Advancements in Driver Fatigue Detection: Comprehensive Analysis of Eye Movement and Facial Feature Approaches,” Springer Journal of Intelligent Systems, 2024.</a:t>
            </a:r>
          </a:p>
          <a:p>
            <a:pPr lvl="0"/>
            <a:endParaRPr lang="en-IN" sz="1100" dirty="0">
              <a:latin typeface="Arial MT"/>
            </a:endParaRPr>
          </a:p>
          <a:p>
            <a:pPr lvl="0"/>
            <a:r>
              <a:rPr lang="en-US" sz="1100" dirty="0">
                <a:latin typeface="Arial MT"/>
              </a:rPr>
              <a:t>[4]   H. Ma, S. Liu, and J. Zhao, “Non-Invasive Fatigue Detection and Human–Machine Interaction via Facial Parameters,” IEEE Access, 2025.</a:t>
            </a:r>
            <a:endParaRPr lang="en-IN" sz="1100" dirty="0">
              <a:latin typeface="Arial MT"/>
            </a:endParaRPr>
          </a:p>
        </p:txBody>
      </p:sp>
      <p:grpSp>
        <p:nvGrpSpPr>
          <p:cNvPr id="5" name="object 5"/>
          <p:cNvGrpSpPr/>
          <p:nvPr/>
        </p:nvGrpSpPr>
        <p:grpSpPr>
          <a:xfrm>
            <a:off x="0" y="3326968"/>
            <a:ext cx="4608195" cy="129539"/>
            <a:chOff x="0" y="3326968"/>
            <a:chExt cx="4608195" cy="129539"/>
          </a:xfrm>
        </p:grpSpPr>
        <p:sp>
          <p:nvSpPr>
            <p:cNvPr id="6" name="object 6"/>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7" name="object 7"/>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8" name="object 8"/>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1" name="object 11"/>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2" name="object 12"/>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22</a:t>
            </a:fld>
            <a:r>
              <a:rPr spc="-70" dirty="0"/>
              <a:t> </a:t>
            </a:r>
            <a:r>
              <a:rPr dirty="0"/>
              <a:t>/</a:t>
            </a:r>
            <a:r>
              <a:rPr spc="-65" dirty="0"/>
              <a:t> </a:t>
            </a:r>
            <a:r>
              <a:rPr spc="-25" dirty="0"/>
              <a:t>2</a:t>
            </a:r>
            <a:r>
              <a:rPr lang="en-US" spc="-25" dirty="0"/>
              <a:t>4</a:t>
            </a:r>
            <a:endParaRPr spc="-25" dirty="0"/>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References</a:t>
            </a:r>
            <a:r>
              <a:rPr spc="100" dirty="0"/>
              <a:t> </a:t>
            </a:r>
            <a:r>
              <a:rPr spc="-25" dirty="0"/>
              <a:t>II</a:t>
            </a:r>
          </a:p>
        </p:txBody>
      </p:sp>
      <p:sp>
        <p:nvSpPr>
          <p:cNvPr id="4" name="object 4"/>
          <p:cNvSpPr txBox="1">
            <a:spLocks noGrp="1"/>
          </p:cNvSpPr>
          <p:nvPr>
            <p:ph type="body" idx="1"/>
          </p:nvPr>
        </p:nvSpPr>
        <p:spPr>
          <a:xfrm>
            <a:off x="102044" y="382459"/>
            <a:ext cx="4508056" cy="2889894"/>
          </a:xfrm>
          <a:prstGeom prst="rect">
            <a:avLst/>
          </a:prstGeom>
        </p:spPr>
        <p:txBody>
          <a:bodyPr vert="horz" wrap="square" lIns="0" tIns="12065" rIns="0" bIns="0" rtlCol="0">
            <a:spAutoFit/>
          </a:bodyPr>
          <a:lstStyle/>
          <a:p>
            <a:pPr lvl="0"/>
            <a:r>
              <a:rPr lang="en-US" sz="1100" dirty="0"/>
              <a:t>[5]   K. Kakhi, R. Patel, and D. Mehra, “Fatigue Monitoring Using Wearables and AI,” Journal of Human– Computer Interaction and Data Science, 2025.</a:t>
            </a:r>
          </a:p>
          <a:p>
            <a:pPr lvl="0"/>
            <a:endParaRPr lang="en-IN" sz="1100" dirty="0"/>
          </a:p>
          <a:p>
            <a:pPr lvl="0"/>
            <a:r>
              <a:rPr lang="en-US" sz="1100" dirty="0"/>
              <a:t>[6]   S. Li, X. Liu, and Y. Zhao, “Deep Learning-Based Emotion Recognition for Human–Computer Interaction,” IEEE Transactions on Cognitive Systems, 2023.</a:t>
            </a:r>
          </a:p>
          <a:p>
            <a:pPr lvl="0"/>
            <a:endParaRPr lang="en-IN" sz="1100" dirty="0"/>
          </a:p>
          <a:p>
            <a:pPr lvl="0"/>
            <a:r>
              <a:rPr lang="en-US" sz="1100" dirty="0"/>
              <a:t>[7]   T. Baltrusaitis, A. Zadeh, and L. Morency, “</a:t>
            </a:r>
            <a:r>
              <a:rPr lang="en-US" sz="1100" dirty="0" err="1"/>
              <a:t>OpenFace</a:t>
            </a:r>
            <a:r>
              <a:rPr lang="en-US" sz="1100" dirty="0"/>
              <a:t> 2.0: Facial Behavior Analysis Toolkit,” IEEE International Conference on Automatic Face &amp; Gesture Recognition, 2022.</a:t>
            </a:r>
          </a:p>
          <a:p>
            <a:pPr lvl="0"/>
            <a:endParaRPr lang="en-IN" sz="1100" dirty="0"/>
          </a:p>
          <a:p>
            <a:pPr lvl="0"/>
            <a:r>
              <a:rPr lang="en-US" sz="1100" dirty="0"/>
              <a:t>[8]   Z. Zhang, “Feature Extraction and Classification in Facial Expression Recognition,” Pattern Recognition Letters, 2021.</a:t>
            </a:r>
          </a:p>
          <a:p>
            <a:pPr lvl="0"/>
            <a:endParaRPr lang="en-IN" sz="1100" dirty="0"/>
          </a:p>
          <a:p>
            <a:pPr lvl="0"/>
            <a:r>
              <a:rPr lang="en-US" sz="1100" dirty="0"/>
              <a:t>[9]   K. Niu and J. Huang, “Streamlit-Based Real-Time Emotion Visualization System,” International Journal of AI &amp; Data Science, 2024.</a:t>
            </a:r>
            <a:endParaRPr lang="en-IN" sz="1100" dirty="0"/>
          </a:p>
        </p:txBody>
      </p:sp>
      <p:grpSp>
        <p:nvGrpSpPr>
          <p:cNvPr id="5" name="object 5"/>
          <p:cNvGrpSpPr/>
          <p:nvPr/>
        </p:nvGrpSpPr>
        <p:grpSpPr>
          <a:xfrm>
            <a:off x="0" y="3326968"/>
            <a:ext cx="4608195" cy="129539"/>
            <a:chOff x="0" y="3326968"/>
            <a:chExt cx="4608195" cy="129539"/>
          </a:xfrm>
        </p:grpSpPr>
        <p:sp>
          <p:nvSpPr>
            <p:cNvPr id="6" name="object 6"/>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7" name="object 7"/>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8" name="object 8"/>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1" name="object 11"/>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2" name="object 12"/>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23</a:t>
            </a:fld>
            <a:r>
              <a:rPr spc="-70" dirty="0"/>
              <a:t> </a:t>
            </a:r>
            <a:r>
              <a:rPr dirty="0"/>
              <a:t>/</a:t>
            </a:r>
            <a:r>
              <a:rPr spc="-65" dirty="0"/>
              <a:t> </a:t>
            </a:r>
            <a:r>
              <a:rPr spc="-25" dirty="0"/>
              <a:t>2</a:t>
            </a:r>
            <a:r>
              <a:rPr lang="en-US" spc="-25" dirty="0"/>
              <a:t>4</a:t>
            </a:r>
            <a:endParaRPr spc="-25" dirty="0"/>
          </a:p>
        </p:txBody>
      </p:sp>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7678" y="199857"/>
            <a:ext cx="4296693" cy="2840789"/>
          </a:xfrm>
          <a:prstGeom prst="rect">
            <a:avLst/>
          </a:prstGeom>
        </p:spPr>
      </p:pic>
      <p:grpSp>
        <p:nvGrpSpPr>
          <p:cNvPr id="3" name="object 3"/>
          <p:cNvGrpSpPr/>
          <p:nvPr/>
        </p:nvGrpSpPr>
        <p:grpSpPr>
          <a:xfrm>
            <a:off x="0" y="3326968"/>
            <a:ext cx="4608195" cy="129539"/>
            <a:chOff x="0" y="3326968"/>
            <a:chExt cx="4608195" cy="129539"/>
          </a:xfrm>
        </p:grpSpPr>
        <p:sp>
          <p:nvSpPr>
            <p:cNvPr id="4" name="object 4"/>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5" name="object 5"/>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6" name="object 6"/>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7" name="object 7"/>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8" name="object 8"/>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hlinkClick r:id="rId3" action="ppaction://hlinksldjump"/>
              </a:rPr>
              <a:t>Short</a:t>
            </a:r>
            <a:r>
              <a:rPr sz="600" spc="5" dirty="0">
                <a:solidFill>
                  <a:srgbClr val="FFFFFF"/>
                </a:solidFill>
                <a:latin typeface="Arial MT"/>
                <a:cs typeface="Arial MT"/>
                <a:hlinkClick r:id="rId3" action="ppaction://hlinksldjump"/>
              </a:rPr>
              <a:t> </a:t>
            </a:r>
            <a:r>
              <a:rPr sz="600" spc="-10" dirty="0">
                <a:solidFill>
                  <a:srgbClr val="FFFFFF"/>
                </a:solidFill>
                <a:latin typeface="Arial MT"/>
                <a:cs typeface="Arial MT"/>
                <a:hlinkClick r:id="rId3" action="ppaction://hlinksldjump"/>
              </a:rPr>
              <a:t>Title</a:t>
            </a:r>
            <a:endParaRPr sz="600">
              <a:latin typeface="Arial MT"/>
              <a:cs typeface="Arial MT"/>
            </a:endParaRPr>
          </a:p>
        </p:txBody>
      </p:sp>
      <p:sp>
        <p:nvSpPr>
          <p:cNvPr id="9" name="object 9"/>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0" name="object 10"/>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24</a:t>
            </a:fld>
            <a:r>
              <a:rPr spc="-70" dirty="0"/>
              <a:t> </a:t>
            </a:r>
            <a:r>
              <a:rPr dirty="0"/>
              <a:t>/</a:t>
            </a:r>
            <a:r>
              <a:rPr spc="-65" dirty="0"/>
              <a:t> </a:t>
            </a:r>
            <a:r>
              <a:rPr spc="-25" dirty="0"/>
              <a:t>2</a:t>
            </a:r>
            <a:r>
              <a:rPr lang="en-US" spc="-25" dirty="0"/>
              <a:t>4</a:t>
            </a:r>
            <a:endParaRPr spc="-25" dirty="0"/>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609</TotalTime>
  <Words>2447</Words>
  <Application>Microsoft Office PowerPoint</Application>
  <PresentationFormat>Custom</PresentationFormat>
  <Paragraphs>264</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 MT</vt:lpstr>
      <vt:lpstr>Arial</vt:lpstr>
      <vt:lpstr>Calibri</vt:lpstr>
      <vt:lpstr>Symbol</vt:lpstr>
      <vt:lpstr>Times New Roman</vt:lpstr>
      <vt:lpstr>Office Theme</vt:lpstr>
      <vt:lpstr>MindTrace: Real Time Emotion Based Productivity Monitoring System  </vt:lpstr>
      <vt:lpstr>Contents</vt:lpstr>
      <vt:lpstr>PowerPoint Presentation</vt:lpstr>
      <vt:lpstr>Literature Survey(1/2) </vt:lpstr>
      <vt:lpstr>Literature Survey(2/2)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sets</vt:lpstr>
      <vt:lpstr>Expected Result</vt:lpstr>
      <vt:lpstr>PowerPoint Presentation</vt:lpstr>
      <vt:lpstr>Papers Published</vt:lpstr>
      <vt:lpstr>References I</vt:lpstr>
      <vt:lpstr>References II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Name of Student1Name of Student2 Name of Student3 Name of Student4  , Guide-Guide name</dc:creator>
  <cp:lastModifiedBy>Sankalp Gaikwad</cp:lastModifiedBy>
  <cp:revision>7</cp:revision>
  <dcterms:created xsi:type="dcterms:W3CDTF">2025-11-13T05:09:17Z</dcterms:created>
  <dcterms:modified xsi:type="dcterms:W3CDTF">2026-06-24T19:25:37Z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2024-08-14T00:00:00Z</vt:filetime>
  </property>
  <property fmtid="{D5CDD505-2E9C-101B-9397-08002B2CF9AE}" pid="3" name="Creator">
    <vt:lpwstr>LaTeX with Beamer class</vt:lpwstr>
  </property>
  <property fmtid="{D5CDD505-2E9C-101B-9397-08002B2CF9AE}" pid="4" name="LastSaved">
    <vt:filetime>2025-11-13T00:00:00Z</vt:filetime>
  </property>
  <property fmtid="{D5CDD505-2E9C-101B-9397-08002B2CF9AE}" pid="5" name="PTEX.Fullbanner">
    <vt:lpwstr>This is pdfTeX, Version 3.141592653-2.6-1.40.24 (TeX Live 2022) kpathsea version 6.3.4</vt:lpwstr>
  </property>
  <property fmtid="{D5CDD505-2E9C-101B-9397-08002B2CF9AE}" pid="6" name="Producer">
    <vt:lpwstr>pdfTeX-1.40.24</vt:lpwstr>
  </property>
</Properties>
</file>