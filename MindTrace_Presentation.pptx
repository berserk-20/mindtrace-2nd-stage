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# MindTrace: Real-Time Behavioral &amp; Emotion Tracking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Presentation Content Outline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MindTrace is an advanced AI-driven system designed to monitor, analyze, and report human emotions and engagement in real-time.</a:t>
            </a:r>
          </a:p>
          <a:p>
            <a:pPr>
              <a:defRPr sz="1800"/>
            </a:pPr>
            <a:r>
              <a:t>Utilizing webcam feeds, it processes facial expressions and head movements to provide actionable insights.</a:t>
            </a:r>
          </a:p>
          <a:p>
            <a:pPr>
              <a:defRPr sz="1800"/>
            </a:pPr>
            <a:r>
              <a:t>Key Technologies: React (Frontend), FastAPI (Backend), PyTorch (ResNet18 Model), MediaPipe (Face Mesh), and MongoDB.</a:t>
            </a:r>
          </a:p>
          <a:p>
            <a:pPr>
              <a:defRPr sz="1800"/>
            </a:pPr>
            <a:r>
              <a:t>Applications: E-learning focus tracking, remote work productivity, telehealth emotional assessment, and usability testing.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Traditional emotion recognition relies heavily on intrusive hardware (EEG, wearables) which are impractical for daily use.</a:t>
            </a:r>
          </a:p>
          <a:p>
            <a:pPr>
              <a:defRPr sz="1800"/>
            </a:pPr>
            <a:r>
              <a:t>Recent advancements in CNNs (Convolutional Neural Networks) have made vision-based emotion detection highly accurate.</a:t>
            </a:r>
          </a:p>
          <a:p>
            <a:pPr>
              <a:defRPr sz="1800"/>
            </a:pPr>
            <a:r>
              <a:t>Studies show that combining multiple inputs—such as facial micro-expressions (via ResNet) and head pose orientation (via MediaPipe)—yields a much more accurate "Engagement/Focus" metric than emotion alone.</a:t>
            </a:r>
          </a:p>
          <a:p>
            <a:pPr>
              <a:defRPr sz="1800"/>
            </a:pPr>
            <a:r>
              <a:t>MindTrace builds upon these findings by offering a stateless, lightweight, browser-based solution without requiring specialized hardware.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/ Objective and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Need: The shift to remote environments (work, education) has created a disconnect in reading non-verbal cues and assessing audience engagement.</a:t>
            </a:r>
          </a:p>
          <a:p>
            <a:pPr>
              <a:defRPr sz="1800"/>
            </a:pPr>
            <a:r>
              <a:t>Objective: To develop a highly responsive, non-intrusive web application that tracks human emotion and calculates a real-time "Focus Score."</a:t>
            </a:r>
          </a:p>
          <a:p>
            <a:pPr>
              <a:defRPr sz="1800"/>
            </a:pPr>
            <a:r>
              <a:t>Scope:</a:t>
            </a:r>
          </a:p>
          <a:p>
            <a:pPr>
              <a:defRPr sz="1800"/>
            </a:pPr>
            <a:r>
              <a:t>Live monitoring of 7 core emotions.</a:t>
            </a:r>
          </a:p>
          <a:p>
            <a:pPr>
              <a:defRPr sz="1800"/>
            </a:pPr>
            <a:r>
              <a:t>Real-time calculation of user engagement based on head pose and expressions.</a:t>
            </a:r>
          </a:p>
          <a:p>
            <a:pPr>
              <a:defRPr sz="1800"/>
            </a:pPr>
            <a:r>
              <a:t>Generation of historical analytical reports and live alerts for administrators.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“In remote and digital environments, it is difficult to gauge user engagement, frustration, and attention span without intrusive monitoring.”</a:t>
            </a:r>
          </a:p>
          <a:p>
            <a:pPr>
              <a:defRPr sz="1800"/>
            </a:pPr>
            <a:r>
              <a:t>Existing solutions are either too computationally heavy for browsers, require native desktop installations, or fail to combine emotion with physical attention (head pose).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Architectural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(Note for PPT: Insert the architecture block diagram here)</a:t>
            </a:r>
          </a:p>
          <a:p>
            <a:pPr>
              <a:defRPr sz="1800"/>
            </a:pPr>
            <a:r>
              <a:t>Frontend (Vercel): React + TypeScript. Captures webcam feed at 2 FPS and renders live bounding boxes &amp; alerts.</a:t>
            </a:r>
          </a:p>
          <a:p>
            <a:pPr>
              <a:defRPr sz="1800"/>
            </a:pPr>
            <a:r>
              <a:t>Backend (Hugging Face Spaces): FastAPI Python server. Exposes stateless `/analyzeframe` endpoint.</a:t>
            </a:r>
          </a:p>
          <a:p>
            <a:pPr>
              <a:defRPr sz="1800"/>
            </a:pPr>
            <a:r>
              <a:t>AI Engine: MediaPipe extracts face landmarks; ResNet18 predicts emotions.</a:t>
            </a:r>
          </a:p>
          <a:p>
            <a:pPr>
              <a:defRPr sz="1800"/>
            </a:pPr>
            <a:r>
              <a:t>Database (MongoDB Atlas): Stores user sessions, historical emotion logs, and role-based access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Model with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Eye Aspect Ratio (EAR) for Blink Detection:</a:t>
            </a:r>
          </a:p>
          <a:p>
            <a:pPr>
              <a:defRPr sz="1800"/>
            </a:pPr>
            <a:r>
              <a:t>Used to calculate $Mb$ (Blink Modifier) for fatigue tracking.</a:t>
            </a:r>
          </a:p>
          <a:p>
            <a:pPr>
              <a:defRPr sz="1800"/>
            </a:pPr>
            <a:r>
              <a:t>Formula: $EAR = \frac{||p2 - p6|| + ||p3 - p5||}{2 ||p1 - p4||}$</a:t>
            </a:r>
          </a:p>
          <a:p>
            <a:pPr>
              <a:defRPr sz="1800"/>
            </a:pPr>
            <a:r>
              <a:t>Where: $p1, p4$ are horizontal eye landmarks; $p2, p3, p5, p6$ are vertical eye landmarks.</a:t>
            </a:r>
          </a:p>
          <a:p>
            <a:pPr>
              <a:defRPr sz="1800"/>
            </a:pPr>
            <a:r>
              <a:t>2. Head Pose Estimation (Perspective-n-Point / PnP):</a:t>
            </a:r>
          </a:p>
          <a:p>
            <a:pPr>
              <a:defRPr sz="1800"/>
            </a:pPr>
            <a:r>
              <a:t>Used to map 3D face model points to 2D image coordinates to find Pitch ($\theta$), Yaw ($\phi$), and Roll ($\psi$).</a:t>
            </a:r>
          </a:p>
          <a:p>
            <a:pPr>
              <a:defRPr sz="1800"/>
            </a:pPr>
            <a:r>
              <a:t>Formula: $s \mathbf{p}c = \mathbf{K} [\mathbf{R} | \mathbf{t}] \mathbf{P}w$</a:t>
            </a:r>
          </a:p>
          <a:p>
            <a:pPr>
              <a:defRPr sz="1800"/>
            </a:pPr>
            <a:r>
              <a:t>Where:</a:t>
            </a:r>
          </a:p>
          <a:p>
            <a:pPr>
              <a:defRPr sz="1800"/>
            </a:pPr>
            <a:r>
              <a:t>$s$ = scale factor</a:t>
            </a:r>
          </a:p>
          <a:p>
            <a:pPr>
              <a:defRPr sz="1800"/>
            </a:pPr>
            <a:r>
              <a:t>$\mathbf{p}c$ = 2D image coordinates</a:t>
            </a:r>
          </a:p>
          <a:p>
            <a:pPr>
              <a:defRPr sz="1800"/>
            </a:pPr>
            <a:r>
              <a:t>$\mathbf{K}$ = Camera Intrinsic Matrix</a:t>
            </a:r>
          </a:p>
          <a:p>
            <a:pPr>
              <a:defRPr sz="1800"/>
            </a:pPr>
            <a:r>
              <a:t>$[\mathbf{R} | \mathbf{t}]$ = Rotation and Translation matrix</a:t>
            </a:r>
          </a:p>
          <a:p>
            <a:pPr>
              <a:defRPr sz="1800"/>
            </a:pPr>
            <a:r>
              <a:t>$\mathbf{P}w$ = 3D World coordinates</a:t>
            </a:r>
          </a:p>
          <a:p>
            <a:pPr>
              <a:defRPr sz="1800"/>
            </a:pPr>
            <a:r>
              <a:t>3. Total Engagement / Focus Score ($E$):</a:t>
            </a:r>
          </a:p>
          <a:p>
            <a:pPr>
              <a:defRPr sz="1800"/>
            </a:pPr>
            <a:r>
              <a:t>Calculated on a scale of 0 to 100.</a:t>
            </a:r>
          </a:p>
          <a:p>
            <a:pPr>
              <a:defRPr sz="1800"/>
            </a:pPr>
            <a:r>
              <a:t>Formula: $E = \max(0, \min(100, Be - Ph + Mb))$</a:t>
            </a:r>
          </a:p>
          <a:p>
            <a:pPr>
              <a:defRPr sz="1800"/>
            </a:pPr>
            <a:r>
              <a:t>Where:</a:t>
            </a:r>
          </a:p>
          <a:p>
            <a:pPr>
              <a:defRPr sz="1800"/>
            </a:pPr>
            <a:r>
              <a:t>$Be$ (Base Emotion Score): 85-95 for Happy/Surprise, 65-80 for Neutral, 30-50 for Negative.</a:t>
            </a:r>
          </a:p>
          <a:p>
            <a:pPr>
              <a:defRPr sz="1800"/>
            </a:pPr>
            <a:r>
              <a:t>$Ph$ (Head Pose Penalty): $-30$ IF $|\phi| &gt; 30^\circ$ OR $|\theta| &gt; 30^\circ$ (Looking away).</a:t>
            </a:r>
          </a:p>
          <a:p>
            <a:pPr>
              <a:defRPr sz="1800"/>
            </a:pPr>
            <a:r>
              <a:t>$Mb$ (Blink Modifier): $-15$ if blink rate $&gt; 35$ (Fatigued), $+10$ if blink rate $&lt; 5$ (Intense focus).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(Functionality &amp; Algorithm Details)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Functionality: Live tracking dashboard, secure role-based login (Admin/User), historical session analytics, and instant desktop alerts for low focus.</a:t>
            </a:r>
          </a:p>
          <a:p>
            <a:pPr>
              <a:defRPr sz="1800"/>
            </a:pPr>
            <a:r>
              <a:t>Algorithm Pipeline:</a:t>
            </a:r>
          </a:p>
          <a:p>
            <a:pPr>
              <a:defRPr sz="1800"/>
            </a:pPr>
            <a:r>
              <a:t>Capture: Frontend captures base64 image -&gt; sends to Backend.</a:t>
            </a:r>
          </a:p>
          <a:p>
            <a:pPr>
              <a:defRPr sz="1800"/>
            </a:pPr>
            <a:r>
              <a:t>Detect: MediaPipe extracts facial bounding box and 468 landmarks.</a:t>
            </a:r>
          </a:p>
          <a:p>
            <a:pPr>
              <a:defRPr sz="1800"/>
            </a:pPr>
            <a:r>
              <a:t>Crop &amp; Transform: Face ROI is cropped, resized to 96x96, and normalized.</a:t>
            </a:r>
          </a:p>
          <a:p>
            <a:pPr>
              <a:defRPr sz="1800"/>
            </a:pPr>
            <a:r>
              <a:t>Inference: PyTorch ResNet18 classifies into 1 of 7 RAF-DB emotions.</a:t>
            </a:r>
          </a:p>
          <a:p>
            <a:pPr>
              <a:defRPr sz="1800"/>
            </a:pPr>
            <a:r>
              <a:t>Feedback: Bounding box, confidence score, and engagement metric returned to UI.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(Note for PPT: Draw standard stick-figure Use Case Diagram)</a:t>
            </a:r>
          </a:p>
          <a:p>
            <a:pPr>
              <a:defRPr sz="1800"/>
            </a:pPr>
            <a:r>
              <a:t>Standard User: Login -&gt; Start Live Session -&gt; View Own Dashboard -&gt; Receive Real-time Alerts -&gt; Stop Session.</a:t>
            </a:r>
          </a:p>
          <a:p>
            <a:pPr>
              <a:defRPr sz="1800"/>
            </a:pPr>
            <a:r>
              <a:t>Administrator: Login -&gt; Access Admin Panel -&gt; View Global Analytics -&gt; Monitor Active Sessions -&gt; View Total Emotion Stats.</a:t>
            </a:r>
          </a:p>
          <a:p>
            <a:pPr>
              <a:defRPr sz="1800"/>
            </a:pPr>
            <a:r>
              <a:t>System (Backend): Process Frames -&gt; Calculate Focus Score -&gt; Write to MongoDB.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Diagram &amp; DFD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(Note for PPT: Describe DFD flow)</a:t>
            </a:r>
          </a:p>
          <a:p>
            <a:pPr>
              <a:defRPr sz="1800"/>
            </a:pPr>
            <a:r>
              <a:t>Level 0 DFD: User (Video Stream) $\rightarrow$ MindTrace System $\rightarrow$ Insights &amp; Alerts (Output).</a:t>
            </a:r>
          </a:p>
          <a:p>
            <a:pPr>
              <a:defRPr sz="1800"/>
            </a:pPr>
            <a:r>
              <a:t>Level 1 DFD:</a:t>
            </a:r>
          </a:p>
          <a:p>
            <a:pPr>
              <a:defRPr sz="1800"/>
            </a:pPr>
            <a:r>
              <a:t>Frontend Client captures frame.</a:t>
            </a:r>
          </a:p>
          <a:p>
            <a:pPr>
              <a:defRPr sz="1800"/>
            </a:pPr>
            <a:r>
              <a:t>API Router validates JWT Token.</a:t>
            </a:r>
          </a:p>
          <a:p>
            <a:pPr>
              <a:defRPr sz="1800"/>
            </a:pPr>
            <a:r>
              <a:t>ML Module performs ResNet inference.</a:t>
            </a:r>
          </a:p>
          <a:p>
            <a:pPr>
              <a:defRPr sz="1800"/>
            </a:pPr>
            <a:r>
              <a:t>Database Manager logs timestamped data.</a:t>
            </a:r>
          </a:p>
          <a:p>
            <a:pPr>
              <a:defRPr sz="1800"/>
            </a:pPr>
            <a:r>
              <a:t>Class Diagram Entities: `User`, `Session`, `EmotionLog`, `AlertManager`, `MLPipeline`.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Specification &amp; Data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Hardware: Standard Web Camera, Any modern CPU/GPU for the server.</a:t>
            </a:r>
          </a:p>
          <a:p>
            <a:pPr>
              <a:defRPr sz="1800"/>
            </a:pPr>
            <a:r>
              <a:t>Software: Node.js (Vite), Python 3.10+, PyTorch, OpenCV, MongoDB.</a:t>
            </a:r>
          </a:p>
          <a:p>
            <a:pPr>
              <a:defRPr sz="1800"/>
            </a:pPr>
            <a:r>
              <a:t>Dataset Used for Training: RAF-DB (Real-world Affective Faces Database).</a:t>
            </a:r>
          </a:p>
          <a:p>
            <a:pPr>
              <a:defRPr sz="1800"/>
            </a:pPr>
            <a:r>
              <a:t>Contains thousands of heavily augmented, real-world facial images.</a:t>
            </a:r>
          </a:p>
          <a:p>
            <a:pPr>
              <a:defRPr sz="1800"/>
            </a:pPr>
            <a:r>
              <a:t>Mapped to 7 basic emotions: Angry, Disgust, Fear, Happy, Neutral, Sad, Surprise.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High Accuracy: &gt;80% accuracy in real-world lighting conditions due to RAF-DB fine-tuning.</a:t>
            </a:r>
          </a:p>
          <a:p>
            <a:pPr>
              <a:defRPr sz="1800"/>
            </a:pPr>
            <a:r>
              <a:t>Low Latency: Inference and network round-trip complete in &lt;500ms (processing at 2 FPS).</a:t>
            </a:r>
          </a:p>
          <a:p>
            <a:pPr>
              <a:defRPr sz="1800"/>
            </a:pPr>
            <a:r>
              <a:t>Actionable Reporting: Administrators can easily identify exactly when and why a user lost focus during a session through visual graphs.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MindTrace successfully bridges the gap between physical human behavior and digital analytics.</a:t>
            </a:r>
          </a:p>
          <a:p>
            <a:pPr>
              <a:defRPr sz="1800"/>
            </a:pPr>
            <a:r>
              <a:t>By combining deep learning (ResNet) with geometric computer vision (MediaPipe) in a stateless web architecture, the system is both highly scalable and highly accessible.</a:t>
            </a:r>
          </a:p>
          <a:p>
            <a:pPr>
              <a:defRPr sz="1800"/>
            </a:pPr>
            <a:r>
              <a:t>It proves that complex psychological monitoring can be done in real-time within a standard web browser.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Paper Published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(Note: If you haven't actually published a paper yet, you can title this "Proposed Publication" or list the target journal)</a:t>
            </a:r>
          </a:p>
          <a:p>
            <a:pPr>
              <a:defRPr sz="1800"/>
            </a:pPr>
            <a:r>
              <a:t>Title: "Real-Time Emotion and Engagement Tracking via Stateless Web Architectures using ResNet18."</a:t>
            </a:r>
          </a:p>
          <a:p>
            <a:pPr>
              <a:defRPr sz="1800"/>
            </a:pPr>
            <a:r>
              <a:t>Journal/Conference: [Insert Target Conference/Journal here, e.g., IEEE Conference on Computer Vision / Springer]</a:t>
            </a:r>
          </a:p>
          <a:p>
            <a:pPr>
              <a:defRPr sz="1800"/>
            </a:pPr>
            <a:r>
              <a:t>Status: [Drafted / Under Review / Published]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Li, S., Deng, W., &amp; Du, J. (2017). Reliable Crowdsourcing and Deep Locality-Preserving Learning for Expression Recognition in the Wild (RAF-DB).</a:t>
            </a:r>
          </a:p>
          <a:p>
            <a:pPr>
              <a:defRPr sz="1800"/>
            </a:pPr>
            <a:r>
              <a:t>Lugaresi, C., et al. (2019). MediaPipe: A Framework for Building Perception Pipelines.</a:t>
            </a:r>
          </a:p>
          <a:p>
            <a:pPr>
              <a:defRPr sz="1800"/>
            </a:pPr>
            <a:r>
              <a:t>He, K., Zhang, X., Ren, S., &amp; Sun, J. (2016). Deep Residual Learning for Image Recognition. (ResNet).</a:t>
            </a:r>
          </a:p>
          <a:p>
            <a:pPr>
              <a:defRPr sz="1800"/>
            </a:pPr>
            <a:r>
              <a:t>FastAPI Documentation - tiangolo.com.</a:t>
            </a:r>
          </a:p>
          <a:p>
            <a:pPr>
              <a:defRPr sz="1800"/>
            </a:pPr>
            <a:r>
              <a:t>React &amp; Vite Official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